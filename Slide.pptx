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4" r:id="rId6"/>
    <p:sldId id="274" r:id="rId7"/>
    <p:sldId id="285" r:id="rId8"/>
    <p:sldId id="283" r:id="rId9"/>
    <p:sldId id="260" r:id="rId10"/>
    <p:sldId id="262" r:id="rId11"/>
    <p:sldId id="288" r:id="rId12"/>
    <p:sldId id="264" r:id="rId13"/>
    <p:sldId id="295" r:id="rId14"/>
    <p:sldId id="292" r:id="rId15"/>
    <p:sldId id="267" r:id="rId16"/>
    <p:sldId id="293" r:id="rId17"/>
    <p:sldId id="294" r:id="rId18"/>
    <p:sldId id="290" r:id="rId19"/>
    <p:sldId id="273" r:id="rId20"/>
  </p:sldIdLst>
  <p:sldSz cx="18288000" cy="10287000"/>
  <p:notesSz cx="6858000" cy="9144000"/>
  <p:embeddedFontLst>
    <p:embeddedFont>
      <p:font typeface="Open Sans Bold"/>
      <p:bold r:id="rId24"/>
    </p:embeddedFont>
    <p:embeddedFont>
      <p:font typeface="Open Sans" pitchFamily="34" charset="0"/>
      <p:regular r:id="rId25"/>
      <p:bold r:id="rId26"/>
      <p:italic r:id="rId27"/>
      <p:boldItalic r:id="rId28"/>
    </p:embeddedFont>
    <p:embeddedFont>
      <p:font typeface="Open Sans Italics"/>
      <p:italic r:id="rId29"/>
    </p:embeddedFont>
    <p:embeddedFont>
      <p:font typeface="Calibri" panose="020F0502020204030204"/>
      <p:regular r:id="rId30"/>
      <p:bold r:id="rId31"/>
      <p:italic r:id="rId32"/>
      <p:boldItalic r:id="rId33"/>
    </p:embeddedFont>
    <p:embeddedFont>
      <p:font typeface="Roboto Bold" panose="02000000000000000000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29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70" d="100"/>
          <a:sy n="70" d="100"/>
        </p:scale>
        <p:origin x="774" y="84"/>
      </p:cViewPr>
      <p:guideLst>
        <p:guide orient="horz" pos="2196"/>
        <p:guide pos="29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741AA-069A-429A-AA2C-CBF45D91259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57A78-E91E-4EC4-AD06-89453BDC2F0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6" name="Google Shape;396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8.xml"/><Relationship Id="rId7" Type="http://schemas.openxmlformats.org/officeDocument/2006/relationships/image" Target="../media/image10.png"/><Relationship Id="rId6" Type="http://schemas.openxmlformats.org/officeDocument/2006/relationships/tags" Target="../tags/tag7.xml"/><Relationship Id="rId5" Type="http://schemas.openxmlformats.org/officeDocument/2006/relationships/image" Target="../media/image9.png"/><Relationship Id="rId4" Type="http://schemas.openxmlformats.org/officeDocument/2006/relationships/tags" Target="../tags/tag6.xml"/><Relationship Id="rId36" Type="http://schemas.openxmlformats.org/officeDocument/2006/relationships/notesSlide" Target="../notesSlides/notesSlide4.x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25.xml"/><Relationship Id="rId33" Type="http://schemas.openxmlformats.org/officeDocument/2006/relationships/image" Target="../media/image2.png"/><Relationship Id="rId32" Type="http://schemas.openxmlformats.org/officeDocument/2006/relationships/image" Target="../media/image18.png"/><Relationship Id="rId31" Type="http://schemas.openxmlformats.org/officeDocument/2006/relationships/tags" Target="../tags/tag24.xml"/><Relationship Id="rId30" Type="http://schemas.openxmlformats.org/officeDocument/2006/relationships/image" Target="../media/image17.png"/><Relationship Id="rId3" Type="http://schemas.openxmlformats.org/officeDocument/2006/relationships/image" Target="../media/image8.png"/><Relationship Id="rId29" Type="http://schemas.openxmlformats.org/officeDocument/2006/relationships/tags" Target="../tags/tag23.xml"/><Relationship Id="rId28" Type="http://schemas.openxmlformats.org/officeDocument/2006/relationships/image" Target="../media/image16.png"/><Relationship Id="rId27" Type="http://schemas.openxmlformats.org/officeDocument/2006/relationships/tags" Target="../tags/tag22.xml"/><Relationship Id="rId26" Type="http://schemas.openxmlformats.org/officeDocument/2006/relationships/image" Target="../media/image15.png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14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5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image" Target="../media/image13.pn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image" Target="../media/image12.png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30.xml"/><Relationship Id="rId7" Type="http://schemas.openxmlformats.org/officeDocument/2006/relationships/image" Target="../media/image2.png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image" Target="../media/image20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3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image" Target="../media/image23.png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22.emf"/><Relationship Id="rId2" Type="http://schemas.openxmlformats.org/officeDocument/2006/relationships/tags" Target="../tags/tag32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image" Target="../media/image25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46.xml"/><Relationship Id="rId7" Type="http://schemas.openxmlformats.org/officeDocument/2006/relationships/image" Target="../media/image28.png"/><Relationship Id="rId6" Type="http://schemas.openxmlformats.org/officeDocument/2006/relationships/tags" Target="../tags/tag45.xml"/><Relationship Id="rId5" Type="http://schemas.openxmlformats.org/officeDocument/2006/relationships/image" Target="../media/image27.png"/><Relationship Id="rId4" Type="http://schemas.openxmlformats.org/officeDocument/2006/relationships/tags" Target="../tags/tag44.xml"/><Relationship Id="rId30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58.xml"/><Relationship Id="rId27" Type="http://schemas.openxmlformats.org/officeDocument/2006/relationships/image" Target="../media/image2.png"/><Relationship Id="rId26" Type="http://schemas.openxmlformats.org/officeDocument/2006/relationships/image" Target="../media/image32.svg"/><Relationship Id="rId25" Type="http://schemas.openxmlformats.org/officeDocument/2006/relationships/image" Target="../media/image31.png"/><Relationship Id="rId24" Type="http://schemas.openxmlformats.org/officeDocument/2006/relationships/tags" Target="../tags/tag57.xml"/><Relationship Id="rId23" Type="http://schemas.openxmlformats.org/officeDocument/2006/relationships/image" Target="../media/image30.png"/><Relationship Id="rId22" Type="http://schemas.openxmlformats.org/officeDocument/2006/relationships/tags" Target="../tags/tag56.xml"/><Relationship Id="rId21" Type="http://schemas.openxmlformats.org/officeDocument/2006/relationships/image" Target="../media/image29.png"/><Relationship Id="rId20" Type="http://schemas.openxmlformats.org/officeDocument/2006/relationships/tags" Target="../tags/tag55.xml"/><Relationship Id="rId2" Type="http://schemas.openxmlformats.org/officeDocument/2006/relationships/tags" Target="../tags/tag43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image" Target="../media/image13.png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image" Target="../media/image14.png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1.xml"/><Relationship Id="rId3" Type="http://schemas.openxmlformats.org/officeDocument/2006/relationships/image" Target="../media/image2.png"/><Relationship Id="rId2" Type="http://schemas.openxmlformats.org/officeDocument/2006/relationships/tags" Target="../tags/tag60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image" Target="../media/image34.png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33.png"/><Relationship Id="rId21" Type="http://schemas.openxmlformats.org/officeDocument/2006/relationships/notesSlide" Target="../notesSlides/notesSlide11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62.xml"/><Relationship Id="rId19" Type="http://schemas.openxmlformats.org/officeDocument/2006/relationships/tags" Target="../tags/tag74.xml"/><Relationship Id="rId18" Type="http://schemas.openxmlformats.org/officeDocument/2006/relationships/image" Target="../media/image2.png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image" Target="../media/image36.png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image" Target="../media/image35.png"/><Relationship Id="rId10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81.xml"/><Relationship Id="rId6" Type="http://schemas.openxmlformats.org/officeDocument/2006/relationships/image" Target="../media/image40.png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image" Target="../media/image42.png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1" Type="http://schemas.openxmlformats.org/officeDocument/2006/relationships/notesSlide" Target="../notesSlides/notesSlide15.xml"/><Relationship Id="rId30" Type="http://schemas.openxmlformats.org/officeDocument/2006/relationships/slideLayout" Target="../slideLayouts/slideLayout7.xml"/><Relationship Id="rId3" Type="http://schemas.openxmlformats.org/officeDocument/2006/relationships/image" Target="../media/image41.png"/><Relationship Id="rId29" Type="http://schemas.openxmlformats.org/officeDocument/2006/relationships/tags" Target="../tags/tag103.xml"/><Relationship Id="rId28" Type="http://schemas.openxmlformats.org/officeDocument/2006/relationships/image" Target="../media/image2.png"/><Relationship Id="rId27" Type="http://schemas.openxmlformats.org/officeDocument/2006/relationships/tags" Target="../tags/tag102.xml"/><Relationship Id="rId26" Type="http://schemas.openxmlformats.org/officeDocument/2006/relationships/tags" Target="../tags/tag101.xml"/><Relationship Id="rId25" Type="http://schemas.openxmlformats.org/officeDocument/2006/relationships/tags" Target="../tags/tag100.xml"/><Relationship Id="rId24" Type="http://schemas.openxmlformats.org/officeDocument/2006/relationships/image" Target="../media/image45.png"/><Relationship Id="rId23" Type="http://schemas.openxmlformats.org/officeDocument/2006/relationships/tags" Target="../tags/tag99.xml"/><Relationship Id="rId22" Type="http://schemas.openxmlformats.org/officeDocument/2006/relationships/tags" Target="../tags/tag98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tags" Target="../tags/tag82.xml"/><Relationship Id="rId19" Type="http://schemas.openxmlformats.org/officeDocument/2006/relationships/tags" Target="../tags/tag95.xml"/><Relationship Id="rId18" Type="http://schemas.openxmlformats.org/officeDocument/2006/relationships/image" Target="../media/image44.png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image" Target="../media/image43.png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10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0226" y="9836070"/>
            <a:ext cx="11885235" cy="901859"/>
            <a:chOff x="0" y="0"/>
            <a:chExt cx="3130268" cy="237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solidFill>
              <a:srgbClr val="F8CF4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573" b="-2875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383">
                <a:alpha val="8980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30226" y="9836070"/>
            <a:ext cx="11885235" cy="901859"/>
            <a:chOff x="0" y="0"/>
            <a:chExt cx="3130268" cy="2375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solidFill>
              <a:srgbClr val="FFDB4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726108" y="2019496"/>
            <a:ext cx="11411021" cy="2370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10"/>
              </a:lnSpc>
            </a:pPr>
            <a:r>
              <a:rPr lang="en-US" sz="450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TRƯỜNG CÔNG NGHỆ THÔNG TIN VÀ TRUYỀN THÔNG</a:t>
            </a:r>
            <a:endParaRPr lang="en-US" sz="4505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6310"/>
              </a:lnSpc>
            </a:pPr>
            <a:endParaRPr lang="en-US" sz="4505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62021" y="3781314"/>
            <a:ext cx="14444067" cy="1102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5"/>
              </a:lnSpc>
            </a:pPr>
            <a:r>
              <a:rPr lang="en-US" sz="6000" b="1" dirty="0">
                <a:solidFill>
                  <a:srgbClr val="FFDB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LỄ BẢO </a:t>
            </a:r>
            <a:r>
              <a:rPr lang="en-US" sz="6000" b="1">
                <a:solidFill>
                  <a:srgbClr val="FFDB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VỆ ĐỒ ÁN </a:t>
            </a:r>
            <a:r>
              <a:rPr lang="en-US" sz="6000" b="1" dirty="0">
                <a:solidFill>
                  <a:srgbClr val="FFDB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TỐT NGHIỆP</a:t>
            </a:r>
            <a:endParaRPr lang="en-US" sz="6000" b="1" dirty="0">
              <a:solidFill>
                <a:srgbClr val="FFDB4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45340" y="5371896"/>
            <a:ext cx="12276885" cy="815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30"/>
              </a:lnSpc>
            </a:pPr>
            <a:r>
              <a:rPr lang="en-US" sz="487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CHUYÊN NGÀNH</a:t>
            </a:r>
            <a:r>
              <a:rPr lang="en-US" sz="487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KỸ THUẬT PHẦN MỀM </a:t>
            </a:r>
            <a:endParaRPr lang="en-US" sz="4875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181600" y="8270240"/>
            <a:ext cx="8315960" cy="639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90"/>
              </a:lnSpc>
            </a:pPr>
            <a:r>
              <a:rPr lang="en-US" sz="3565" i="1" dirty="0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Hà </a:t>
            </a:r>
            <a:r>
              <a:rPr lang="en-US" sz="3565" i="1" dirty="0" err="1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Nội</a:t>
            </a:r>
            <a:r>
              <a:rPr lang="en-US" sz="3565" i="1" dirty="0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, </a:t>
            </a:r>
            <a:r>
              <a:rPr lang="en-US" sz="3565" i="1" err="1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ngày</a:t>
            </a:r>
            <a:r>
              <a:rPr lang="en-US" sz="3565" i="1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 </a:t>
            </a:r>
            <a:r>
              <a:rPr lang="en-US" altLang="en-US" sz="3565" i="1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15</a:t>
            </a:r>
            <a:r>
              <a:rPr lang="vi-VN" altLang="en-US" sz="3565" i="1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 </a:t>
            </a:r>
            <a:r>
              <a:rPr lang="en-US" sz="3565" i="1" dirty="0" err="1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tháng</a:t>
            </a:r>
            <a:r>
              <a:rPr lang="en-US" sz="3565" i="1" dirty="0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 0</a:t>
            </a:r>
            <a:r>
              <a:rPr lang="vi-VN" altLang="en-US" sz="3565" i="1" dirty="0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6</a:t>
            </a:r>
            <a:r>
              <a:rPr lang="en-US" sz="3565" i="1" dirty="0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 </a:t>
            </a:r>
            <a:r>
              <a:rPr lang="en-US" sz="3565" i="1" dirty="0" err="1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năm</a:t>
            </a:r>
            <a:r>
              <a:rPr lang="en-US" sz="3565" i="1" dirty="0">
                <a:solidFill>
                  <a:srgbClr val="FFFFFF"/>
                </a:solidFill>
                <a:latin typeface="Open Sans" pitchFamily="34" charset="0"/>
                <a:ea typeface="Open Sans Italics"/>
                <a:cs typeface="Open Sans" pitchFamily="34" charset="0"/>
                <a:sym typeface="Open Sans Italics"/>
              </a:rPr>
              <a:t> 2026</a:t>
            </a:r>
            <a:endParaRPr lang="en-US" sz="3565" i="1" dirty="0">
              <a:solidFill>
                <a:srgbClr val="FFFFFF"/>
              </a:solidFill>
              <a:latin typeface="Open Sans" pitchFamily="34" charset="0"/>
              <a:ea typeface="Open Sans Italics"/>
              <a:cs typeface="Open Sans" pitchFamily="34" charset="0"/>
              <a:sym typeface="Open Sans Italics"/>
            </a:endParaRPr>
          </a:p>
        </p:txBody>
      </p:sp>
      <p:grpSp>
        <p:nvGrpSpPr>
          <p:cNvPr id="17" name="Group 17"/>
          <p:cNvGrpSpPr/>
          <p:nvPr/>
        </p:nvGrpSpPr>
        <p:grpSpPr>
          <a:xfrm rot="5400000">
            <a:off x="-1070584" y="4815507"/>
            <a:ext cx="4062260" cy="136308"/>
            <a:chOff x="0" y="0"/>
            <a:chExt cx="1069896" cy="359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9896" cy="35900"/>
            </a:xfrm>
            <a:custGeom>
              <a:avLst/>
              <a:gdLst/>
              <a:ahLst/>
              <a:cxnLst/>
              <a:rect l="l" t="t" r="r" b="b"/>
              <a:pathLst>
                <a:path w="1069896" h="35900">
                  <a:moveTo>
                    <a:pt x="0" y="0"/>
                  </a:moveTo>
                  <a:lnTo>
                    <a:pt x="1069896" y="0"/>
                  </a:lnTo>
                  <a:lnTo>
                    <a:pt x="1069896" y="35900"/>
                  </a:lnTo>
                  <a:lnTo>
                    <a:pt x="0" y="35900"/>
                  </a:lnTo>
                  <a:close/>
                </a:path>
              </a:pathLst>
            </a:custGeom>
            <a:solidFill>
              <a:srgbClr val="FFDB4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069896" cy="10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696744" y="343053"/>
            <a:ext cx="7180262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DB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BỘ CÔNG THƯƠNG </a:t>
            </a:r>
            <a:endParaRPr lang="en-US" sz="3600" b="1">
              <a:solidFill>
                <a:srgbClr val="FFDB4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DB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ĐẠI HỌC CÔNG NGHIỆP HÀ NỘI </a:t>
            </a:r>
            <a:endParaRPr lang="en-US" sz="3600" b="1">
              <a:solidFill>
                <a:srgbClr val="FFDB4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Rectangle: Rounded Corners 46"/>
          <p:cNvSpPr/>
          <p:nvPr>
            <p:custDataLst>
              <p:tags r:id="rId2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0" y="-58420"/>
            <a:ext cx="2738120" cy="469900"/>
            <a:chOff x="0" y="0"/>
            <a:chExt cx="7338" cy="1210"/>
          </a:xfrm>
        </p:grpSpPr>
        <p:sp>
          <p:nvSpPr>
            <p:cNvPr id="26" name="Rectangles 25"/>
            <p:cNvSpPr/>
            <p:nvPr/>
          </p:nvSpPr>
          <p:spPr>
            <a:xfrm>
              <a:off x="0" y="0"/>
              <a:ext cx="7338" cy="1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" y="92"/>
              <a:ext cx="7141" cy="111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065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2000"/>
            </a:blip>
            <a:stretch>
              <a:fillRect t="-4573" b="-287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3E7B">
                <a:alpha val="8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4816593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30226" y="10032736"/>
            <a:ext cx="11885235" cy="705194"/>
            <a:chOff x="0" y="0"/>
            <a:chExt cx="3130268" cy="1857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30268" cy="185730"/>
            </a:xfrm>
            <a:custGeom>
              <a:avLst/>
              <a:gdLst/>
              <a:ahLst/>
              <a:cxnLst/>
              <a:rect l="l" t="t" r="r" b="b"/>
              <a:pathLst>
                <a:path w="3130268" h="185730">
                  <a:moveTo>
                    <a:pt x="0" y="0"/>
                  </a:moveTo>
                  <a:lnTo>
                    <a:pt x="3130268" y="0"/>
                  </a:lnTo>
                  <a:lnTo>
                    <a:pt x="3130268" y="185730"/>
                  </a:lnTo>
                  <a:lnTo>
                    <a:pt x="0" y="185730"/>
                  </a:lnTo>
                  <a:close/>
                </a:path>
              </a:pathLst>
            </a:custGeom>
            <a:solidFill>
              <a:srgbClr val="FFDB4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130268" cy="252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-1070584" y="3884677"/>
            <a:ext cx="4062260" cy="136308"/>
            <a:chOff x="0" y="0"/>
            <a:chExt cx="1069896" cy="35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9896" cy="35900"/>
            </a:xfrm>
            <a:custGeom>
              <a:avLst/>
              <a:gdLst/>
              <a:ahLst/>
              <a:cxnLst/>
              <a:rect l="l" t="t" r="r" b="b"/>
              <a:pathLst>
                <a:path w="1069896" h="35900">
                  <a:moveTo>
                    <a:pt x="0" y="0"/>
                  </a:moveTo>
                  <a:lnTo>
                    <a:pt x="1069896" y="0"/>
                  </a:lnTo>
                  <a:lnTo>
                    <a:pt x="1069896" y="35900"/>
                  </a:lnTo>
                  <a:lnTo>
                    <a:pt x="0" y="35900"/>
                  </a:lnTo>
                  <a:close/>
                </a:path>
              </a:pathLst>
            </a:custGeom>
            <a:solidFill>
              <a:srgbClr val="F8CF4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069896" cy="10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71800" y="3314700"/>
            <a:ext cx="11908790" cy="5052060"/>
            <a:chOff x="4680" y="5220"/>
            <a:chExt cx="18754" cy="7956"/>
          </a:xfrm>
        </p:grpSpPr>
        <p:sp>
          <p:nvSpPr>
            <p:cNvPr id="14" name="TextBox 14"/>
            <p:cNvSpPr txBox="1"/>
            <p:nvPr/>
          </p:nvSpPr>
          <p:spPr>
            <a:xfrm>
              <a:off x="5520" y="9660"/>
              <a:ext cx="17050" cy="35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805"/>
                </a:lnSpc>
              </a:pPr>
              <a:r>
                <a:rPr lang="vi-VN" altLang="en-US" sz="4000" b="1">
                  <a:solidFill>
                    <a:schemeClr val="bg1"/>
                  </a:solidFill>
                  <a:sym typeface="Open Sans Bold"/>
                </a:rPr>
                <a:t>GVHD</a:t>
              </a:r>
              <a:r>
                <a:rPr lang="en-US" sz="4000" b="1">
                  <a:solidFill>
                    <a:schemeClr val="bg1"/>
                  </a:solidFill>
                  <a:sym typeface="Open Sans Bold"/>
                </a:rPr>
                <a:t>: </a:t>
              </a:r>
              <a:r>
                <a:rPr lang="vi-VN" altLang="en-US" sz="4000" b="1">
                  <a:solidFill>
                    <a:schemeClr val="bg1"/>
                  </a:solidFill>
                  <a:sym typeface="Open Sans Bold"/>
                </a:rPr>
                <a:t>ThS.</a:t>
              </a:r>
              <a:r>
                <a:rPr lang="en-US" sz="4000" b="1">
                  <a:solidFill>
                    <a:schemeClr val="bg1"/>
                  </a:solidFill>
                </a:rPr>
                <a:t> Nguyễn Thị </a:t>
              </a:r>
              <a:r>
                <a:rPr lang="vi-VN" altLang="en-US" sz="4000" b="1">
                  <a:solidFill>
                    <a:schemeClr val="bg1"/>
                  </a:solidFill>
                </a:rPr>
                <a:t>Nhung</a:t>
              </a:r>
              <a:endParaRPr lang="en-US" sz="4000" b="1">
                <a:solidFill>
                  <a:schemeClr val="bg1"/>
                </a:solidFill>
                <a:sym typeface="Open Sans Bold"/>
              </a:endParaRPr>
            </a:p>
            <a:p>
              <a:pPr algn="ctr">
                <a:lnSpc>
                  <a:spcPts val="5805"/>
                </a:lnSpc>
              </a:pPr>
              <a:r>
                <a:rPr lang="en-US" sz="4000" b="1">
                  <a:solidFill>
                    <a:schemeClr val="bg1"/>
                  </a:solidFill>
                  <a:sym typeface="Open Sans Bold"/>
                </a:rPr>
                <a:t>Sinh viên: </a:t>
              </a:r>
              <a:r>
                <a:rPr lang="vi-VN" altLang="en-US" sz="4000" b="1">
                  <a:solidFill>
                    <a:schemeClr val="bg1"/>
                  </a:solidFill>
                  <a:sym typeface="Open Sans Bold"/>
                </a:rPr>
                <a:t>Vũ Xuân Bắc</a:t>
              </a:r>
              <a:endParaRPr lang="en-US" sz="4000" b="1">
                <a:solidFill>
                  <a:schemeClr val="bg1"/>
                </a:solidFill>
                <a:sym typeface="Open Sans Bold"/>
              </a:endParaRPr>
            </a:p>
            <a:p>
              <a:pPr algn="ctr">
                <a:lnSpc>
                  <a:spcPts val="5805"/>
                </a:lnSpc>
              </a:pPr>
              <a:r>
                <a:rPr lang="en-US" sz="4000" b="1">
                  <a:solidFill>
                    <a:schemeClr val="bg1"/>
                  </a:solidFill>
                  <a:sym typeface="Open Sans Bold"/>
                </a:rPr>
                <a:t>Mã số SV: 2022605</a:t>
              </a:r>
              <a:r>
                <a:rPr lang="vi-VN" altLang="en-US" sz="4000" b="1">
                  <a:solidFill>
                    <a:schemeClr val="bg1"/>
                  </a:solidFill>
                  <a:sym typeface="Open Sans Bold"/>
                </a:rPr>
                <a:t>451</a:t>
              </a:r>
              <a:endParaRPr lang="vi-VN" altLang="en-US" sz="4000" b="1">
                <a:solidFill>
                  <a:schemeClr val="bg1"/>
                </a:solidFill>
                <a:sym typeface="Open Sans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80" y="5220"/>
              <a:ext cx="18755" cy="23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4800" b="1">
                  <a:solidFill>
                    <a:schemeClr val="bg1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rPr>
                <a:t>XÂY DỰNG WEBSITE </a:t>
              </a:r>
              <a:r>
                <a:rPr lang="vi-VN" altLang="en-US" sz="4800" b="1">
                  <a:solidFill>
                    <a:schemeClr val="bg1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rPr>
                <a:t>ĐẶT PHÒNG KHÁCH SẠN </a:t>
              </a:r>
              <a:r>
                <a:rPr lang="vi-VN" altLang="en-US" sz="4800" b="1">
                  <a:solidFill>
                    <a:schemeClr val="bg1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rPr>
                <a:t>LOUDBOOKING</a:t>
              </a:r>
              <a:endParaRPr lang="vi-VN" altLang="en-US" sz="4800" b="1">
                <a:solidFill>
                  <a:schemeClr val="bg1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748782" y="1633520"/>
            <a:ext cx="679043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0"/>
              </a:lnSpc>
              <a:spcBef>
                <a:spcPct val="0"/>
              </a:spcBef>
            </a:pPr>
            <a:r>
              <a:rPr lang="en-US" sz="435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ĐỒ ÁN TỐT NGHIỆP</a:t>
            </a:r>
            <a:endParaRPr lang="en-US" sz="435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730598" y="199631"/>
            <a:ext cx="10826799" cy="1042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sz="301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ĐẠI HỌC CÔNG NGHIỆP HÀ NỘI</a:t>
            </a:r>
            <a:br>
              <a:rPr lang="en-US" sz="301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</a:br>
            <a:r>
              <a:rPr lang="en-US" sz="301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TRƯỜNG CÔNG NGHỆ THÔNG TIN VÀ TRUYỀN THÔNG</a:t>
            </a:r>
            <a:endParaRPr lang="en-US" sz="301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Rectangle: Rounded Corners 46"/>
          <p:cNvSpPr/>
          <p:nvPr>
            <p:custDataLst>
              <p:tags r:id="rId2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2/1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0" y="-58420"/>
            <a:ext cx="2738120" cy="469900"/>
            <a:chOff x="0" y="0"/>
            <a:chExt cx="7338" cy="1210"/>
          </a:xfrm>
        </p:grpSpPr>
        <p:sp>
          <p:nvSpPr>
            <p:cNvPr id="19" name="Rectangles 18"/>
            <p:cNvSpPr/>
            <p:nvPr/>
          </p:nvSpPr>
          <p:spPr>
            <a:xfrm>
              <a:off x="0" y="0"/>
              <a:ext cx="7338" cy="1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" y="92"/>
              <a:ext cx="7141" cy="111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43000" y="3114675"/>
            <a:ext cx="7715250" cy="232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429750" y="3114675"/>
            <a:ext cx="7715250" cy="232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43000" y="6015038"/>
            <a:ext cx="7715250" cy="232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429750" y="6015038"/>
            <a:ext cx="7715250" cy="232886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828800" y="3390583"/>
            <a:ext cx="6795849" cy="5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PHẦN 1: TỔNG QUAN</a:t>
            </a:r>
            <a:endParaRPr lang="en-US" sz="3500" b="1" i="0" u="none" strike="noStrike" cap="none">
              <a:solidFill>
                <a:srgbClr val="1E3A8A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0058400" y="3390583"/>
            <a:ext cx="6795849" cy="5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PHẦN 2: PHÂN TÍCH </a:t>
            </a:r>
            <a:r>
              <a:rPr lang="vi-VN" altLang="en-US" sz="3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&amp; </a:t>
            </a:r>
            <a:r>
              <a:rPr lang="en-US" sz="3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THIẾT KẾ</a:t>
            </a:r>
            <a:endParaRPr lang="en-US" sz="3500" b="1" i="0" u="none" strike="noStrike" cap="none">
              <a:solidFill>
                <a:srgbClr val="1E3A8A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828800" y="6210300"/>
            <a:ext cx="6795849" cy="5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PHẦN 3: </a:t>
            </a:r>
            <a:r>
              <a:rPr lang="vi-VN" altLang="en-US" sz="3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KIỂM THỬ PHẦN </a:t>
            </a:r>
            <a:r>
              <a:rPr lang="vi-VN" altLang="en-US" sz="3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MỀM</a:t>
            </a:r>
            <a:endParaRPr lang="vi-VN" altLang="en-US" sz="3500" b="1" i="0" u="none" strike="noStrike" cap="none">
              <a:solidFill>
                <a:srgbClr val="1E3A8A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9982200" y="6245225"/>
            <a:ext cx="6795849" cy="5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PHẦN 4: KẾT QUẢ ĐẠT ĐƯỢC</a:t>
            </a:r>
            <a:endParaRPr lang="en-US" sz="3500" b="1" i="0" u="none" strike="noStrike" cap="none">
              <a:solidFill>
                <a:srgbClr val="1E3A8A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900238" y="4125515"/>
            <a:ext cx="11430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•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2057083" y="3994468"/>
            <a:ext cx="6257925" cy="38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Lý do lựa chọn đề tài 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900238" y="4561284"/>
            <a:ext cx="11430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•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2057083" y="4457541"/>
            <a:ext cx="6257925" cy="38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Mục tiêu </a:t>
            </a: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nghiên </a:t>
            </a: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cứu</a:t>
            </a:r>
            <a:endParaRPr lang="vi-VN" alt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10186988" y="4125515"/>
            <a:ext cx="11430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•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0301288" y="3995103"/>
            <a:ext cx="6257925" cy="77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690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Biểu đồ Use case tổng quan</a:t>
            </a:r>
            <a:endParaRPr lang="vi-VN" alt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0186988" y="4561284"/>
            <a:ext cx="11430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•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0301288" y="4457541"/>
            <a:ext cx="6257925" cy="38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Kiến trúc</a:t>
            </a:r>
            <a:r>
              <a:rPr lang="vi-VN" altLang="en-US" sz="1690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 &amp; Công nghệ</a:t>
            </a:r>
            <a:endParaRPr lang="vi-VN" alt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1900238" y="7025877"/>
            <a:ext cx="11430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•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2014538" y="6887845"/>
            <a:ext cx="6257925" cy="38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Kịch bản kiểm thử trọng </a:t>
            </a: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tâm</a:t>
            </a:r>
            <a:endParaRPr lang="vi-VN" alt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1900238" y="7461647"/>
            <a:ext cx="11430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•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2014538" y="7353458"/>
            <a:ext cx="6257925" cy="38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Đánh giá chất lượng hệ </a:t>
            </a: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thống</a:t>
            </a:r>
            <a:endParaRPr lang="vi-VN" alt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0186988" y="7025877"/>
            <a:ext cx="11430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•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0286683" y="6884670"/>
            <a:ext cx="6257925" cy="38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Sản phẩm thực tế đạt </a:t>
            </a: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được </a:t>
            </a:r>
            <a:endParaRPr lang="vi-VN" alt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10186988" y="7461647"/>
            <a:ext cx="11430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•</a:t>
            </a:r>
            <a:endParaRPr 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0286683" y="7353458"/>
            <a:ext cx="6257925" cy="38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Lộ trình phát triển </a:t>
            </a:r>
            <a:r>
              <a:rPr lang="vi-VN" altLang="en-US" sz="169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2026+</a:t>
            </a:r>
            <a:endParaRPr lang="vi-VN" altLang="en-US" sz="169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143000" y="857250"/>
            <a:ext cx="16802100" cy="76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Nội dung thuyết trình chính</a:t>
            </a:r>
            <a:endParaRPr lang="en-US" sz="5000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sp>
        <p:nvSpPr>
          <p:cNvPr id="13" name="Rectangle: Rounded Corners 46"/>
          <p:cNvSpPr/>
          <p:nvPr>
            <p:custDataLst>
              <p:tags r:id="rId6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3/1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810000" y="3848100"/>
            <a:ext cx="11703050" cy="1532890"/>
            <a:chOff x="6000" y="6060"/>
            <a:chExt cx="18430" cy="2414"/>
          </a:xfrm>
        </p:grpSpPr>
        <p:sp>
          <p:nvSpPr>
            <p:cNvPr id="98" name="Google Shape;98;p14"/>
            <p:cNvSpPr/>
            <p:nvPr/>
          </p:nvSpPr>
          <p:spPr>
            <a:xfrm>
              <a:off x="13349" y="8340"/>
              <a:ext cx="2938" cy="1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2700">
                <a:solidFill>
                  <a:schemeClr val="dk1"/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Calibri" panose="020F0502020204030204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6000" y="6060"/>
              <a:ext cx="18430" cy="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PHẦN 1: TỔNG QUAN</a:t>
              </a:r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18" y="69064"/>
            <a:ext cx="4534682" cy="779774"/>
          </a:xfrm>
          <a:prstGeom prst="rect">
            <a:avLst/>
          </a:prstGeom>
        </p:spPr>
      </p:pic>
      <p:sp>
        <p:nvSpPr>
          <p:cNvPr id="12" name="Rectangle: Rounded Corners 46"/>
          <p:cNvSpPr/>
          <p:nvPr>
            <p:custDataLst>
              <p:tags r:id="rId2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4/1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143000" y="3630976"/>
            <a:ext cx="3852418" cy="4423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5364071" y="3630976"/>
            <a:ext cx="3852418" cy="4423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9585141" y="3630976"/>
            <a:ext cx="3852418" cy="4423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13806211" y="3630976"/>
            <a:ext cx="3852418" cy="4423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1526399" y="4088104"/>
            <a:ext cx="737305" cy="73730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>
            <p:custDataLst>
              <p:tags r:id="rId12"/>
            </p:custDataLst>
          </p:nvPr>
        </p:nvSpPr>
        <p:spPr>
          <a:xfrm>
            <a:off x="1526399" y="5090839"/>
            <a:ext cx="3239901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Chuyển đổi số</a:t>
            </a:r>
            <a:endParaRPr lang="en-US" sz="3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49" name="Google Shape;149;p16"/>
          <p:cNvSpPr txBox="1"/>
          <p:nvPr>
            <p:custDataLst>
              <p:tags r:id="rId13"/>
            </p:custDataLst>
          </p:nvPr>
        </p:nvSpPr>
        <p:spPr>
          <a:xfrm>
            <a:off x="1526399" y="5651191"/>
            <a:ext cx="3085621" cy="166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Ngành du lịch dịch chuyển mạnh mẽ sang đặt phòng trực tuyến tăng tính minh bạch và tốc độ xử lý dịch vụ.</a:t>
            </a:r>
            <a:endParaRPr lang="en-US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150" name="Google Shape;150;p16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5747469" y="4088104"/>
            <a:ext cx="737305" cy="73730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>
            <p:custDataLst>
              <p:tags r:id="rId16"/>
            </p:custDataLst>
          </p:nvPr>
        </p:nvSpPr>
        <p:spPr>
          <a:xfrm>
            <a:off x="5747469" y="5090839"/>
            <a:ext cx="3239901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Mô hình chuỗi</a:t>
            </a:r>
            <a:endParaRPr lang="en-US" sz="3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52" name="Google Shape;152;p16"/>
          <p:cNvSpPr txBox="1"/>
          <p:nvPr>
            <p:custDataLst>
              <p:tags r:id="rId17"/>
            </p:custDataLst>
          </p:nvPr>
        </p:nvSpPr>
        <p:spPr>
          <a:xfrm>
            <a:off x="5747468" y="5651191"/>
            <a:ext cx="3085621" cy="207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Nhu cầu quản lý đồng bộ thông tin, dữ liệu tập trung giữa các khách sạn thành viên trong cùng một hệ thống.</a:t>
            </a:r>
            <a:endParaRPr lang="en-US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153" name="Google Shape;153;p16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9968539" y="4088104"/>
            <a:ext cx="737305" cy="73730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>
            <p:custDataLst>
              <p:tags r:id="rId19"/>
            </p:custDataLst>
          </p:nvPr>
        </p:nvSpPr>
        <p:spPr>
          <a:xfrm>
            <a:off x="9813925" y="5067300"/>
            <a:ext cx="360108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Tránh Overbooking</a:t>
            </a:r>
            <a:endParaRPr lang="en-US" sz="3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55" name="Google Shape;155;p16"/>
          <p:cNvSpPr txBox="1"/>
          <p:nvPr>
            <p:custDataLst>
              <p:tags r:id="rId20"/>
            </p:custDataLst>
          </p:nvPr>
        </p:nvSpPr>
        <p:spPr>
          <a:xfrm>
            <a:off x="9968376" y="5651191"/>
            <a:ext cx="3085539" cy="217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Giải quyết triệt để bài toán kiểm soát phòng khả dụng thời gian thực trong môi trường nhiều người dùng truy cập.</a:t>
            </a:r>
            <a:endParaRPr lang="en-US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156" name="Google Shape;156;p16" descr="image.png"/>
          <p:cNvPicPr preferRelativeResize="0"/>
          <p:nvPr>
            <p:custDataLst>
              <p:tags r:id="rId21"/>
            </p:custDataLst>
          </p:nvPr>
        </p:nvPicPr>
        <p:blipFill rotWithShape="1">
          <a:blip r:embed="rId22"/>
          <a:srcRect/>
          <a:stretch>
            <a:fillRect/>
          </a:stretch>
        </p:blipFill>
        <p:spPr>
          <a:xfrm>
            <a:off x="14189610" y="4088104"/>
            <a:ext cx="737305" cy="73730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>
            <p:custDataLst>
              <p:tags r:id="rId23"/>
            </p:custDataLst>
          </p:nvPr>
        </p:nvSpPr>
        <p:spPr>
          <a:xfrm>
            <a:off x="14102715" y="5090795"/>
            <a:ext cx="338518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Vận hành linh hoạt</a:t>
            </a:r>
            <a:endParaRPr lang="en-US" sz="3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58" name="Google Shape;158;p16"/>
          <p:cNvSpPr txBox="1"/>
          <p:nvPr>
            <p:custDataLst>
              <p:tags r:id="rId24"/>
            </p:custDataLst>
          </p:nvPr>
        </p:nvSpPr>
        <p:spPr>
          <a:xfrm>
            <a:off x="14189610" y="5651191"/>
            <a:ext cx="3085621" cy="207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Áp dụng mô hình đặt phòng theo loại phòng và phân phòng cụ thể linh hoạt tại thời điểm làm thủ tục </a:t>
            </a:r>
            <a:r>
              <a:rPr lang="vi-VN" altLang="en-US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nhận phòng</a:t>
            </a:r>
            <a:r>
              <a:rPr lang="en-US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.</a:t>
            </a:r>
            <a:endParaRPr lang="en-US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159" name="Google Shape;159;p16" descr="image.png"/>
          <p:cNvPicPr preferRelativeResize="0"/>
          <p:nvPr>
            <p:custDataLst>
              <p:tags r:id="rId25"/>
            </p:custDataLst>
          </p:nvPr>
        </p:nvPicPr>
        <p:blipFill rotWithShape="1">
          <a:blip r:embed="rId26"/>
          <a:srcRect/>
          <a:stretch>
            <a:fillRect/>
          </a:stretch>
        </p:blipFill>
        <p:spPr>
          <a:xfrm>
            <a:off x="1718098" y="4265058"/>
            <a:ext cx="353906" cy="353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>
            <p:custDataLst>
              <p:tags r:id="rId27"/>
            </p:custDataLst>
          </p:nvPr>
        </p:nvPicPr>
        <p:blipFill rotWithShape="1">
          <a:blip r:embed="rId28"/>
          <a:srcRect/>
          <a:stretch>
            <a:fillRect/>
          </a:stretch>
        </p:blipFill>
        <p:spPr>
          <a:xfrm>
            <a:off x="5917048" y="4265058"/>
            <a:ext cx="398145" cy="353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>
            <p:custDataLst>
              <p:tags r:id="rId29"/>
            </p:custDataLst>
          </p:nvPr>
        </p:nvPicPr>
        <p:blipFill rotWithShape="1">
          <a:blip r:embed="rId30"/>
          <a:srcRect/>
          <a:stretch>
            <a:fillRect/>
          </a:stretch>
        </p:blipFill>
        <p:spPr>
          <a:xfrm>
            <a:off x="10160239" y="4265058"/>
            <a:ext cx="353906" cy="353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>
            <p:custDataLst>
              <p:tags r:id="rId31"/>
            </p:custDataLst>
          </p:nvPr>
        </p:nvPicPr>
        <p:blipFill rotWithShape="1">
          <a:blip r:embed="rId32"/>
          <a:srcRect/>
          <a:stretch>
            <a:fillRect/>
          </a:stretch>
        </p:blipFill>
        <p:spPr>
          <a:xfrm>
            <a:off x="14381309" y="4265058"/>
            <a:ext cx="353906" cy="35390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1143000" y="857250"/>
            <a:ext cx="16802100" cy="76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Lý do lựa chọn đề tài</a:t>
            </a:r>
            <a:endParaRPr lang="en-US" sz="5000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3810000" y="-1660525"/>
            <a:ext cx="11703050" cy="1532890"/>
            <a:chOff x="6000" y="6060"/>
            <a:chExt cx="18430" cy="2414"/>
          </a:xfrm>
        </p:grpSpPr>
        <p:sp>
          <p:nvSpPr>
            <p:cNvPr id="98" name="Google Shape;98;p14"/>
            <p:cNvSpPr/>
            <p:nvPr/>
          </p:nvSpPr>
          <p:spPr>
            <a:xfrm>
              <a:off x="13349" y="8340"/>
              <a:ext cx="2938" cy="1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p>
              <a:pPr algn="ctr"/>
              <a:endParaRPr sz="2700">
                <a:solidFill>
                  <a:schemeClr val="dk1"/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Calibri" panose="020F0502020204030204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6000" y="6060"/>
              <a:ext cx="18430" cy="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p>
              <a:pPr algn="ctr"/>
              <a:r>
                <a:rPr 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PHẦN 1: TỔNG QUAN</a:t>
              </a:r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  <p:sp>
        <p:nvSpPr>
          <p:cNvPr id="13" name="Rectangle: Rounded Corners 46"/>
          <p:cNvSpPr/>
          <p:nvPr>
            <p:custDataLst>
              <p:tags r:id="rId34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5/1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143000" y="857250"/>
            <a:ext cx="16802100" cy="76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Mục tiêu nghiên cứu</a:t>
            </a:r>
            <a:endParaRPr lang="en-US" sz="5000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79610" y="3314700"/>
            <a:ext cx="7918450" cy="5233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0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90600" y="3314700"/>
            <a:ext cx="8321040" cy="523303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1828800" y="3848100"/>
            <a:ext cx="6786245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Xây dựng lý thuyết &amp; Nghiệp vụ</a:t>
            </a:r>
            <a:endParaRPr lang="en-US" sz="4500" b="1" i="0" u="none" strike="noStrike" cap="none">
              <a:solidFill>
                <a:srgbClr val="1E3A8A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10515600" y="3924300"/>
            <a:ext cx="632714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Cơ chế kỹ thuật cốt lõi</a:t>
            </a:r>
            <a:endParaRPr lang="en-US" sz="4500" b="1" i="0" u="none" strike="noStrike" cap="none">
              <a:solidFill>
                <a:srgbClr val="1E3A8A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176" name="Google Shape;176;p17"/>
          <p:cNvSpPr txBox="1"/>
          <p:nvPr>
            <p:custDataLst>
              <p:tags r:id="rId3"/>
            </p:custDataLst>
          </p:nvPr>
        </p:nvSpPr>
        <p:spPr>
          <a:xfrm>
            <a:off x="1905000" y="5547360"/>
            <a:ext cx="6332855" cy="8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- 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Mô hình hóa quy trình nghiệp vụ đặt phòng theo mô hình chuỗi khách sạn tập trung.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78" name="Google Shape;178;p17"/>
          <p:cNvSpPr txBox="1"/>
          <p:nvPr>
            <p:custDataLst>
              <p:tags r:id="rId4"/>
            </p:custDataLst>
          </p:nvPr>
        </p:nvSpPr>
        <p:spPr>
          <a:xfrm>
            <a:off x="1981200" y="6896100"/>
            <a:ext cx="623062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- 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Phân tích chi tiết quy trình nhận phòng (Check-in), trả phòng (Check-out) và </a:t>
            </a: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phân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 phòng thực tế.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80" name="Google Shape;180;p17"/>
          <p:cNvSpPr txBox="1"/>
          <p:nvPr>
            <p:custDataLst>
              <p:tags r:id="rId5"/>
            </p:custDataLst>
          </p:nvPr>
        </p:nvSpPr>
        <p:spPr>
          <a:xfrm>
            <a:off x="10186670" y="5448300"/>
            <a:ext cx="6539865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- 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Xây dựng cơ chế kiểm tra phòng trống khả dụng thời gian thực (Real-time).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82" name="Google Shape;182;p17"/>
          <p:cNvSpPr txBox="1"/>
          <p:nvPr>
            <p:custDataLst>
              <p:tags r:id="rId6"/>
            </p:custDataLst>
          </p:nvPr>
        </p:nvSpPr>
        <p:spPr>
          <a:xfrm>
            <a:off x="10186670" y="6896100"/>
            <a:ext cx="6563995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- 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Thiết kế cơ sở dữ liệu quan hệ chặt chẽ, tối ưu hiệu suất lưu trữ và tính nhất quán dữ liệu (ACID).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  <p:sp>
        <p:nvSpPr>
          <p:cNvPr id="12" name="Rectangle: Rounded Corners 46"/>
          <p:cNvSpPr/>
          <p:nvPr>
            <p:custDataLst>
              <p:tags r:id="rId8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6/1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74725" y="4152900"/>
            <a:ext cx="16337280" cy="1609090"/>
            <a:chOff x="1535" y="6540"/>
            <a:chExt cx="25728" cy="2534"/>
          </a:xfrm>
        </p:grpSpPr>
        <p:sp>
          <p:nvSpPr>
            <p:cNvPr id="142" name="Google Shape;142;p17"/>
            <p:cNvSpPr/>
            <p:nvPr/>
          </p:nvSpPr>
          <p:spPr>
            <a:xfrm>
              <a:off x="12720" y="8940"/>
              <a:ext cx="2700" cy="1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2700">
                <a:solidFill>
                  <a:schemeClr val="dk1"/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Calibri" panose="020F0502020204030204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1535" y="6540"/>
              <a:ext cx="25729" cy="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PHẦN 2: PHÂN TÍCH &amp; THIẾT KẾ</a:t>
              </a:r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18" y="69064"/>
            <a:ext cx="4534682" cy="779774"/>
          </a:xfrm>
          <a:prstGeom prst="rect">
            <a:avLst/>
          </a:prstGeom>
        </p:spPr>
      </p:pic>
      <p:sp>
        <p:nvSpPr>
          <p:cNvPr id="12" name="Rectangle: Rounded Corners 46"/>
          <p:cNvSpPr/>
          <p:nvPr>
            <p:custDataLst>
              <p:tags r:id="rId2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46"/>
          <p:cNvSpPr/>
          <p:nvPr>
            <p:custDataLst>
              <p:tags r:id="rId2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8/1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12;p19"/>
          <p:cNvSpPr txBox="1"/>
          <p:nvPr/>
        </p:nvSpPr>
        <p:spPr>
          <a:xfrm>
            <a:off x="1143000" y="571500"/>
            <a:ext cx="8537575" cy="76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50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Biểu đồ Use Case tổng </a:t>
            </a:r>
            <a:r>
              <a:rPr lang="vi-VN" altLang="en-US" sz="50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quan</a:t>
            </a:r>
            <a:endParaRPr lang="vi-VN" altLang="en-US" sz="5000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pic>
        <p:nvPicPr>
          <p:cNvPr id="14" name="Picture 1"/>
          <p:cNvPicPr>
            <a:picLocks noChangeAspect="1"/>
          </p:cNvPicPr>
          <p:nvPr/>
        </p:nvPicPr>
        <p:blipFill>
          <a:blip r:embed="rId3"/>
          <a:srcRect l="15224" t="2651" r="24064" b="25434"/>
          <a:stretch>
            <a:fillRect/>
          </a:stretch>
        </p:blipFill>
        <p:spPr>
          <a:xfrm>
            <a:off x="381000" y="1333500"/>
            <a:ext cx="8921750" cy="852551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>
            <p:custDataLst>
              <p:tags r:id="rId4"/>
            </p:custDataLst>
          </p:nvPr>
        </p:nvSpPr>
        <p:spPr>
          <a:xfrm>
            <a:off x="11125200" y="2400300"/>
            <a:ext cx="4427855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Quản trị </a:t>
            </a:r>
            <a:r>
              <a:rPr lang="vi-VN" altLang="en-US" sz="25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viên </a:t>
            </a:r>
            <a:r>
              <a:rPr lang="en-US" sz="25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(Admin)</a:t>
            </a:r>
            <a:endParaRPr lang="en-US" sz="25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pic>
        <p:nvPicPr>
          <p:cNvPr id="3" name="Google Shape;209;p19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10210588" y="2462539"/>
            <a:ext cx="415219" cy="32198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2;p19"/>
          <p:cNvSpPr txBox="1"/>
          <p:nvPr>
            <p:custDataLst>
              <p:tags r:id="rId7"/>
            </p:custDataLst>
          </p:nvPr>
        </p:nvSpPr>
        <p:spPr>
          <a:xfrm>
            <a:off x="11184255" y="3086100"/>
            <a:ext cx="6271260" cy="1557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Quản trị toàn bộ chuỗi khách sạn, phân quyền người dùng, quản lý tiện ích</a:t>
            </a: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,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 mã giảm giá và báo cáo doanh thu toàn chuỗi</a:t>
            </a: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.</a:t>
            </a:r>
            <a:endParaRPr lang="vi-VN" alt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210" name="Google Shape;210;p19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10240561" y="4991100"/>
            <a:ext cx="30003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>
            <p:custDataLst>
              <p:tags r:id="rId10"/>
            </p:custDataLst>
          </p:nvPr>
        </p:nvSpPr>
        <p:spPr>
          <a:xfrm>
            <a:off x="11125200" y="5001895"/>
            <a:ext cx="457073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Quản lý </a:t>
            </a:r>
            <a:r>
              <a:rPr lang="vi-VN" altLang="en-US" sz="25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khách sạn </a:t>
            </a:r>
            <a:r>
              <a:rPr lang="en-US" sz="25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(Manager)</a:t>
            </a:r>
            <a:endParaRPr lang="en-US" sz="25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205" name="Google Shape;205;p19"/>
          <p:cNvSpPr txBox="1"/>
          <p:nvPr>
            <p:custDataLst>
              <p:tags r:id="rId11"/>
            </p:custDataLst>
          </p:nvPr>
        </p:nvSpPr>
        <p:spPr>
          <a:xfrm>
            <a:off x="11184255" y="5706110"/>
            <a:ext cx="6398895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Quản lý </a:t>
            </a: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loại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 phòng,</a:t>
            </a: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 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phòng thuộc khách sạn phụ trách, xử lý đơn đặt phòng và </a:t>
            </a: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phân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 phòng thực tế khi </a:t>
            </a:r>
            <a:r>
              <a:rPr lang="vi-VN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nhận phòng tại khách sạn được phân công</a:t>
            </a: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211" name="Google Shape;211;p19" descr="image.png"/>
          <p:cNvPicPr preferRelativeResize="0"/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10287307" y="7540625"/>
            <a:ext cx="30003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>
            <p:custDataLst>
              <p:tags r:id="rId14"/>
            </p:custDataLst>
          </p:nvPr>
        </p:nvSpPr>
        <p:spPr>
          <a:xfrm>
            <a:off x="11201548" y="7581900"/>
            <a:ext cx="4570649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5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Người dùng</a:t>
            </a:r>
            <a:r>
              <a:rPr lang="en-US" sz="25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 (User)</a:t>
            </a:r>
            <a:endParaRPr lang="en-US" sz="25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208" name="Google Shape;208;p19"/>
          <p:cNvSpPr txBox="1"/>
          <p:nvPr>
            <p:custDataLst>
              <p:tags r:id="rId15"/>
            </p:custDataLst>
          </p:nvPr>
        </p:nvSpPr>
        <p:spPr>
          <a:xfrm>
            <a:off x="11184255" y="8191500"/>
            <a:ext cx="655066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Tìm kiếm thông tin khách sạn trực tuyến, kiểm tra phòng trống thực tế, tiến hành đặt phòng, thanh toán VNPAY và gửi đánh giá phản hồi.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6" name="Google Shape;201;p19"/>
          <p:cNvSpPr txBox="1"/>
          <p:nvPr>
            <p:custDataLst>
              <p:tags r:id="rId16"/>
            </p:custDataLst>
          </p:nvPr>
        </p:nvSpPr>
        <p:spPr>
          <a:xfrm>
            <a:off x="10125710" y="1562100"/>
            <a:ext cx="69830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3000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Hệ thống được phân quyền chặt chẽ:</a:t>
            </a:r>
            <a:endParaRPr lang="vi-VN" altLang="en-US" sz="3000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158875" y="2640330"/>
            <a:ext cx="5095875" cy="563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6612255" y="2640330"/>
            <a:ext cx="5095875" cy="5634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12065000" y="2640330"/>
            <a:ext cx="5095875" cy="560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1530350" y="3082925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>
            <p:custDataLst>
              <p:tags r:id="rId10"/>
            </p:custDataLst>
          </p:nvPr>
        </p:nvSpPr>
        <p:spPr>
          <a:xfrm>
            <a:off x="1530350" y="4054475"/>
            <a:ext cx="4570649" cy="61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4000" b="1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Fontend</a:t>
            </a:r>
            <a:endParaRPr lang="vi-VN" altLang="en-US" sz="4000" b="1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247" name="Google Shape;247;p21"/>
          <p:cNvSpPr txBox="1"/>
          <p:nvPr>
            <p:custDataLst>
              <p:tags r:id="rId11"/>
            </p:custDataLst>
          </p:nvPr>
        </p:nvSpPr>
        <p:spPr>
          <a:xfrm>
            <a:off x="1530350" y="4597400"/>
            <a:ext cx="4352999" cy="346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Xây dựng giao diện web Responsive hoàn chỉnh bằng HTML5, CSS3, JavaScript động (Fetch API) kết hợp UI Framework Bootstrap hiện đại.</a:t>
            </a:r>
            <a:endParaRPr lang="en-US" sz="25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248" name="Google Shape;248;p21" descr="image.png"/>
          <p:cNvPicPr preferRelativeResize="0"/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6983486" y="3082925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>
            <p:custDataLst>
              <p:tags r:id="rId14"/>
            </p:custDataLst>
          </p:nvPr>
        </p:nvSpPr>
        <p:spPr>
          <a:xfrm>
            <a:off x="6983486" y="4054475"/>
            <a:ext cx="4570649" cy="61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4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Backend</a:t>
            </a:r>
            <a:endParaRPr lang="vi-VN" altLang="en-US" sz="4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250" name="Google Shape;250;p21"/>
          <p:cNvSpPr txBox="1"/>
          <p:nvPr>
            <p:custDataLst>
              <p:tags r:id="rId15"/>
            </p:custDataLst>
          </p:nvPr>
        </p:nvSpPr>
        <p:spPr>
          <a:xfrm>
            <a:off x="7010156" y="4747895"/>
            <a:ext cx="4352999" cy="288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Xây dựng backend bằng Spring Boot, áp dụng mô hình MVC đ</a:t>
            </a:r>
            <a:r>
              <a:rPr lang="en-US" alt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ể tổ chức mã nguồn và xử lý</a:t>
            </a:r>
            <a:r>
              <a:rPr lang="en-US" alt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 nghiệp vụ hệ thống.</a:t>
            </a:r>
            <a:endParaRPr lang="en-US" altLang="en-US" sz="25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251" name="Google Shape;251;p21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12436624" y="3082925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>
            <p:custDataLst>
              <p:tags r:id="rId18"/>
            </p:custDataLst>
          </p:nvPr>
        </p:nvSpPr>
        <p:spPr>
          <a:xfrm>
            <a:off x="12436623" y="4054475"/>
            <a:ext cx="4570649" cy="61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Database</a:t>
            </a:r>
            <a:endParaRPr lang="en-US" sz="4000" b="1" i="0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253" name="Google Shape;253;p21"/>
          <p:cNvSpPr txBox="1"/>
          <p:nvPr>
            <p:custDataLst>
              <p:tags r:id="rId19"/>
            </p:custDataLst>
          </p:nvPr>
        </p:nvSpPr>
        <p:spPr>
          <a:xfrm>
            <a:off x="12437258" y="4994910"/>
            <a:ext cx="4352999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Hệ quản trị cơ sở dữ liệu quan hệ MySQL 8.0</a:t>
            </a:r>
            <a:r>
              <a:rPr lang="vi-VN" alt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, giúp </a:t>
            </a:r>
            <a:r>
              <a:rPr 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quản lý dữ liệu hiệu quả</a:t>
            </a:r>
            <a:r>
              <a:rPr lang="vi-VN" alt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 và </a:t>
            </a:r>
            <a:r>
              <a:rPr 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duy trì tính toàn vẹn</a:t>
            </a:r>
            <a:r>
              <a:rPr lang="vi-VN" altLang="en-US" sz="25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.</a:t>
            </a:r>
            <a:endParaRPr lang="vi-VN" altLang="en-US" sz="25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254" name="Google Shape;254;p21" descr="image.png"/>
          <p:cNvPicPr preferRelativeResize="0"/>
          <p:nvPr>
            <p:custDataLst>
              <p:tags r:id="rId20"/>
            </p:custDataLst>
          </p:nvPr>
        </p:nvPicPr>
        <p:blipFill rotWithShape="1">
          <a:blip r:embed="rId21"/>
          <a:srcRect/>
          <a:stretch>
            <a:fillRect/>
          </a:stretch>
        </p:blipFill>
        <p:spPr>
          <a:xfrm>
            <a:off x="1673225" y="32543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>
            <p:custDataLst>
              <p:tags r:id="rId22"/>
            </p:custDataLst>
          </p:nvPr>
        </p:nvPicPr>
        <p:blipFill rotWithShape="1">
          <a:blip r:embed="rId23"/>
          <a:srcRect/>
          <a:stretch>
            <a:fillRect/>
          </a:stretch>
        </p:blipFill>
        <p:spPr>
          <a:xfrm>
            <a:off x="12643792" y="3254375"/>
            <a:ext cx="30003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1143000" y="857250"/>
            <a:ext cx="16802100" cy="76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Kiến trúc </a:t>
            </a:r>
            <a:r>
              <a:rPr lang="vi-VN" altLang="en-US" sz="5000" b="1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&amp; Công nghệ</a:t>
            </a:r>
            <a:endParaRPr lang="en-US" sz="5000" b="1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pic>
        <p:nvPicPr>
          <p:cNvPr id="9" name="Graphic 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26275" y="3082925"/>
            <a:ext cx="609600" cy="609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371600" y="-1790700"/>
            <a:ext cx="16337280" cy="1609090"/>
            <a:chOff x="1535" y="6540"/>
            <a:chExt cx="25728" cy="2534"/>
          </a:xfrm>
        </p:grpSpPr>
        <p:sp>
          <p:nvSpPr>
            <p:cNvPr id="142" name="Google Shape;142;p17"/>
            <p:cNvSpPr/>
            <p:nvPr/>
          </p:nvSpPr>
          <p:spPr>
            <a:xfrm>
              <a:off x="12720" y="8940"/>
              <a:ext cx="2700" cy="1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p>
              <a:pPr algn="ctr"/>
              <a:endParaRPr sz="2700">
                <a:solidFill>
                  <a:schemeClr val="dk1"/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Calibri" panose="020F0502020204030204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1535" y="6540"/>
              <a:ext cx="25729" cy="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p>
              <a:pPr algn="ctr"/>
              <a:r>
                <a:rPr 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PHẦN 2: PHÂN TÍCH &amp; THIẾT KẾ</a:t>
              </a:r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  <p:sp>
        <p:nvSpPr>
          <p:cNvPr id="12" name="Rectangle: Rounded Corners 46"/>
          <p:cNvSpPr/>
          <p:nvPr>
            <p:custDataLst>
              <p:tags r:id="rId28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9/1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3848100"/>
            <a:ext cx="15935960" cy="1532890"/>
            <a:chOff x="2400" y="6060"/>
            <a:chExt cx="25096" cy="2414"/>
          </a:xfrm>
        </p:grpSpPr>
        <p:sp>
          <p:nvSpPr>
            <p:cNvPr id="208" name="Google Shape;208;p21"/>
            <p:cNvSpPr/>
            <p:nvPr/>
          </p:nvSpPr>
          <p:spPr>
            <a:xfrm>
              <a:off x="12960" y="8340"/>
              <a:ext cx="2699" cy="1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2700">
                <a:solidFill>
                  <a:schemeClr val="dk1"/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Calibri" panose="020F0502020204030204"/>
              </a:endParaRPr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2400" y="6060"/>
              <a:ext cx="25096" cy="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PHẦN 3: KIỂM THỬ PHẦN MỀM</a:t>
              </a:r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  <p:sp>
        <p:nvSpPr>
          <p:cNvPr id="12" name="Rectangle: Rounded Corners 46"/>
          <p:cNvSpPr/>
          <p:nvPr>
            <p:custDataLst>
              <p:tags r:id="rId1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10/1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8" y="69064"/>
            <a:ext cx="4534682" cy="779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2;p19"/>
          <p:cNvSpPr txBox="1"/>
          <p:nvPr/>
        </p:nvSpPr>
        <p:spPr>
          <a:xfrm>
            <a:off x="1143000" y="571500"/>
            <a:ext cx="7752080" cy="65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4275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Kịch bản kiểm thử trọng </a:t>
            </a:r>
            <a:r>
              <a:rPr lang="vi-VN" altLang="en-US" sz="4275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tâm</a:t>
            </a:r>
            <a:endParaRPr lang="vi-VN" altLang="en-US" sz="4275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graphicFrame>
        <p:nvGraphicFramePr>
          <p:cNvPr id="216" name="Google Shape;216;p22"/>
          <p:cNvGraphicFramePr/>
          <p:nvPr>
            <p:custDataLst>
              <p:tags r:id="rId2"/>
            </p:custDataLst>
          </p:nvPr>
        </p:nvGraphicFramePr>
        <p:xfrm>
          <a:off x="1524000" y="2176780"/>
          <a:ext cx="15877540" cy="593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075"/>
                <a:gridCol w="5163820"/>
                <a:gridCol w="6688455"/>
                <a:gridCol w="2155190"/>
              </a:tblGrid>
              <a:tr h="84772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FFFFFF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Mã TC</a:t>
                      </a:r>
                      <a:endParaRPr lang="en-US" sz="2500" b="1" u="none" strike="noStrike" cap="none">
                        <a:solidFill>
                          <a:srgbClr val="FFFFFF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FFFFFF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Chức năng kiểm thử</a:t>
                      </a:r>
                      <a:endParaRPr lang="en-US" sz="2500" b="1" u="none" strike="noStrike" cap="none">
                        <a:solidFill>
                          <a:srgbClr val="FFFFFF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FFFFFF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Mục tiêu</a:t>
                      </a:r>
                      <a:endParaRPr lang="en-US" sz="2500" b="1" u="none" strike="noStrike" cap="none">
                        <a:solidFill>
                          <a:srgbClr val="FFFFFF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FFFFFF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Kết quả</a:t>
                      </a:r>
                      <a:endParaRPr lang="en-US" sz="2500" b="1" u="none" strike="noStrike" cap="none">
                        <a:solidFill>
                          <a:srgbClr val="FFFFFF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</a:tr>
              <a:tr h="84772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TC0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1</a:t>
                      </a:r>
                      <a:endParaRPr lang="vi-VN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Tìm kiếm khách </a:t>
                      </a:r>
                      <a:r>
                        <a:rPr lang="vi-VN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sạn</a:t>
                      </a:r>
                      <a:endParaRPr lang="vi-VN" sz="2500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Kiểm tra khả n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ă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ng tìm kiếm khách sạn theo 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đ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ịa 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đ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iểm, thời gian và số l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ư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ợng phòng</a:t>
                      </a:r>
                      <a:endParaRPr lang="en-US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22C55E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PASS</a:t>
                      </a:r>
                      <a:endParaRPr lang="en-US" sz="2500" b="1" u="none" strike="noStrike" cap="none">
                        <a:solidFill>
                          <a:srgbClr val="22C55E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</a:tr>
              <a:tr h="84772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TC0</a:t>
                      </a:r>
                      <a:r>
                        <a:rPr lang="vi-VN" altLang="en-US" sz="2500">
                          <a:latin typeface="Open Sans" pitchFamily="34" charset="0"/>
                          <a:cs typeface="Open Sans" pitchFamily="34" charset="0"/>
                          <a:sym typeface="+mn-ea"/>
                        </a:rPr>
                        <a:t>2</a:t>
                      </a:r>
                      <a:endParaRPr lang="vi-VN" altLang="en-US" sz="2500">
                        <a:latin typeface="Open Sans" pitchFamily="34" charset="0"/>
                        <a:cs typeface="Open Sans" pitchFamily="34" charset="0"/>
                        <a:sym typeface="+mn-ea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Xem chi tiết khách sạn</a:t>
                      </a:r>
                      <a:endParaRPr lang="vi-VN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Kiểm tra hiển thị 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đ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ầy 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đ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ủ thông tin khách sạn</a:t>
                      </a:r>
                      <a:endParaRPr lang="en-US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22C55E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PASS</a:t>
                      </a:r>
                      <a:endParaRPr lang="en-US" sz="2500" b="1" u="none" strike="noStrike" cap="none">
                        <a:solidFill>
                          <a:srgbClr val="22C55E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</a:tr>
              <a:tr h="84772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TC0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3</a:t>
                      </a:r>
                      <a:endParaRPr lang="vi-VN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Đặt phòng</a:t>
                      </a:r>
                      <a:endParaRPr lang="vi-VN" sz="2500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Kiểm tra quy trình 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đ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ặt phòng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 và tạo đơn đặt phòng thành 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công</a:t>
                      </a:r>
                      <a:endParaRPr lang="vi-VN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22C55E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PASS</a:t>
                      </a:r>
                      <a:endParaRPr lang="en-US" sz="2500" b="1" u="none" strike="noStrike" cap="none">
                        <a:solidFill>
                          <a:srgbClr val="22C55E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</a:tr>
              <a:tr h="84772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TC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04</a:t>
                      </a:r>
                      <a:endParaRPr lang="vi-VN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Quản lý loại phòng</a:t>
                      </a:r>
                      <a:endParaRPr lang="vi-VN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Kiểm tra chức 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năng quản lý</a:t>
                      </a:r>
                      <a:r>
                        <a:rPr lang="en-US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 loại phòng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 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của các khách </a:t>
                      </a:r>
                      <a:r>
                        <a:rPr lang="vi-VN" altLang="en-US" sz="2500" b="0" u="none" strike="noStrike" cap="none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sạn</a:t>
                      </a:r>
                      <a:endParaRPr lang="vi-VN" altLang="en-US" sz="2500" b="0" u="none" strike="noStrike" cap="none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22C55E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PASS</a:t>
                      </a:r>
                      <a:endParaRPr lang="en-US" sz="2500" b="1" u="none" strike="noStrike" cap="none">
                        <a:solidFill>
                          <a:srgbClr val="22C55E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</a:tr>
              <a:tr h="84772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TC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05</a:t>
                      </a:r>
                      <a:endParaRPr lang="vi-VN" altLang="en-US" sz="2500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Quản lý phòng</a:t>
                      </a:r>
                      <a:endParaRPr lang="vi-VN" altLang="en-US" sz="2500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Kiểm tra chức n</a:t>
                      </a:r>
                      <a:r>
                        <a:rPr lang="en-US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ă</a:t>
                      </a:r>
                      <a:r>
                        <a:rPr lang="en-US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ng 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quản lý </a:t>
                      </a:r>
                      <a:r>
                        <a:rPr lang="en-US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phòng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 của các</a:t>
                      </a:r>
                      <a:r>
                        <a:rPr lang="en-US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+mn-ea"/>
                        </a:rPr>
                        <a:t> 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+mn-ea"/>
                        </a:rPr>
                        <a:t>khách 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+mn-ea"/>
                        </a:rPr>
                        <a:t>sạn</a:t>
                      </a:r>
                      <a:endParaRPr lang="vi-VN" altLang="en-US" sz="2500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+mn-ea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>
                          <a:solidFill>
                            <a:srgbClr val="22C55E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PASS</a:t>
                      </a:r>
                      <a:endParaRPr lang="en-US" sz="2500">
                        <a:latin typeface="Open Sans" pitchFamily="34" charset="0"/>
                        <a:cs typeface="Open Sans" pitchFamily="34" charset="0"/>
                      </a:endParaRPr>
                    </a:p>
                  </a:txBody>
                  <a:tcPr marL="95250" marR="95250" marT="38100" marB="38100" anchor="ctr"/>
                </a:tc>
              </a:tr>
              <a:tr h="84772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TC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0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6</a:t>
                      </a:r>
                      <a:endParaRPr lang="vi-VN" altLang="en-US" sz="2500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  <a:sym typeface="Lato" panose="020F050202020403020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Quản lý đơn đặt phòng</a:t>
                      </a:r>
                      <a:endParaRPr lang="vi-VN" altLang="en-US" sz="2500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Kiểm tra chức n</a:t>
                      </a:r>
                      <a:r>
                        <a:rPr lang="en-US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ă</a:t>
                      </a:r>
                      <a:r>
                        <a:rPr lang="en-US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ng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</a:rPr>
                        <a:t> quản lý các đơn đặt phòng 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+mn-ea"/>
                        </a:rPr>
                        <a:t>của </a:t>
                      </a:r>
                      <a:r>
                        <a:rPr lang="vi-VN" altLang="en-US" sz="2500">
                          <a:solidFill>
                            <a:schemeClr val="tx1"/>
                          </a:solidFill>
                          <a:latin typeface="Open Sans" pitchFamily="34" charset="0"/>
                          <a:cs typeface="Open Sans" pitchFamily="34" charset="0"/>
                          <a:sym typeface="+mn-ea"/>
                        </a:rPr>
                        <a:t>các khách sạn</a:t>
                      </a:r>
                      <a:endParaRPr lang="vi-VN" altLang="en-US" sz="2500">
                        <a:solidFill>
                          <a:schemeClr val="tx1"/>
                        </a:solidFill>
                        <a:latin typeface="Open Sans" pitchFamily="34" charset="0"/>
                        <a:cs typeface="Open Sans" pitchFamily="34" charset="0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>
                          <a:solidFill>
                            <a:srgbClr val="22C55E"/>
                          </a:solidFill>
                          <a:latin typeface="Open Sans" pitchFamily="34" charset="0"/>
                          <a:cs typeface="Open Sans" pitchFamily="34" charset="0"/>
                          <a:sym typeface="Lato" panose="020F0502020204030203"/>
                        </a:rPr>
                        <a:t>PASS</a:t>
                      </a:r>
                      <a:endParaRPr lang="en-US" sz="2500">
                        <a:latin typeface="Open Sans" pitchFamily="34" charset="0"/>
                        <a:cs typeface="Open Sans" pitchFamily="34" charset="0"/>
                      </a:endParaRPr>
                    </a:p>
                  </a:txBody>
                  <a:tcPr marL="95250" marR="95250" marT="38100" marB="38100" anchor="ctr"/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676400" y="-1790065"/>
            <a:ext cx="15935960" cy="1532890"/>
            <a:chOff x="2400" y="6060"/>
            <a:chExt cx="25096" cy="2414"/>
          </a:xfrm>
        </p:grpSpPr>
        <p:sp>
          <p:nvSpPr>
            <p:cNvPr id="208" name="Google Shape;208;p21"/>
            <p:cNvSpPr/>
            <p:nvPr/>
          </p:nvSpPr>
          <p:spPr>
            <a:xfrm>
              <a:off x="12960" y="8340"/>
              <a:ext cx="2699" cy="1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p>
              <a:pPr algn="ctr"/>
              <a:endParaRPr sz="2700">
                <a:solidFill>
                  <a:schemeClr val="dk1"/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Calibri" panose="020F0502020204030204"/>
              </a:endParaRPr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2400" y="6060"/>
              <a:ext cx="25096" cy="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p>
              <a:pPr algn="ctr"/>
              <a:r>
                <a:rPr 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PHẦN 3: KIỂM THỬ PHẦN MỀM</a:t>
              </a:r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  <p:sp>
        <p:nvSpPr>
          <p:cNvPr id="12" name="Rectangle: Rounded Corners 46"/>
          <p:cNvSpPr/>
          <p:nvPr>
            <p:custDataLst>
              <p:tags r:id="rId4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11/1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2;p19"/>
          <p:cNvSpPr txBox="1"/>
          <p:nvPr/>
        </p:nvSpPr>
        <p:spPr>
          <a:xfrm>
            <a:off x="1143000" y="571500"/>
            <a:ext cx="7752080" cy="65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4275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Đánh giá chất lượng hệ </a:t>
            </a:r>
            <a:r>
              <a:rPr lang="vi-VN" altLang="en-US" sz="4275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thống</a:t>
            </a:r>
            <a:endParaRPr lang="vi-VN" altLang="en-US" sz="4275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04800" y="3314700"/>
            <a:ext cx="7948930" cy="2851150"/>
            <a:chOff x="1320" y="6413"/>
            <a:chExt cx="12518" cy="4490"/>
          </a:xfrm>
        </p:grpSpPr>
        <p:sp>
          <p:nvSpPr>
            <p:cNvPr id="240" name="Google Shape;240;p23"/>
            <p:cNvSpPr txBox="1"/>
            <p:nvPr/>
          </p:nvSpPr>
          <p:spPr>
            <a:xfrm>
              <a:off x="1350" y="6413"/>
              <a:ext cx="12488" cy="4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6875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Lato" panose="020F0502020204030203"/>
                </a:rPr>
                <a:t>100%</a:t>
              </a:r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41" name="Google Shape;241;p23"/>
            <p:cNvSpPr txBox="1"/>
            <p:nvPr/>
          </p:nvSpPr>
          <p:spPr>
            <a:xfrm>
              <a:off x="1320" y="10140"/>
              <a:ext cx="12488" cy="7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3150" b="1">
                  <a:solidFill>
                    <a:srgbClr val="0F172A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Lato" panose="020F0502020204030203"/>
                </a:rPr>
                <a:t>Test Case Pass (</a:t>
              </a:r>
              <a:r>
                <a:rPr lang="vi-VN" altLang="en-US" sz="3150" b="1">
                  <a:solidFill>
                    <a:srgbClr val="0F172A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Lato" panose="020F0502020204030203"/>
                </a:rPr>
                <a:t>38</a:t>
              </a:r>
              <a:r>
                <a:rPr lang="en-US" sz="3150" b="1">
                  <a:solidFill>
                    <a:srgbClr val="0F172A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Lato" panose="020F0502020204030203"/>
                </a:rPr>
                <a:t>/</a:t>
              </a:r>
              <a:r>
                <a:rPr lang="vi-VN" altLang="en-US" sz="3150" b="1">
                  <a:solidFill>
                    <a:srgbClr val="0F172A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Lato" panose="020F0502020204030203"/>
                </a:rPr>
                <a:t>38</a:t>
              </a:r>
              <a:r>
                <a:rPr lang="en-US" sz="3150" b="1">
                  <a:solidFill>
                    <a:srgbClr val="0F172A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Lato" panose="020F0502020204030203"/>
                </a:rPr>
                <a:t>)</a:t>
              </a:r>
              <a:endParaRPr sz="2700"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  <p:pic>
        <p:nvPicPr>
          <p:cNvPr id="381" name="Google Shape;381;p27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8145780" y="2171700"/>
            <a:ext cx="481330" cy="40830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>
            <p:custDataLst>
              <p:tags r:id="rId4"/>
            </p:custDataLst>
          </p:nvPr>
        </p:nvSpPr>
        <p:spPr>
          <a:xfrm>
            <a:off x="8894178" y="2171700"/>
            <a:ext cx="2104279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Hiệu năng</a:t>
            </a:r>
            <a:endParaRPr lang="en-US" sz="3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371" name="Google Shape;371;p27"/>
          <p:cNvSpPr txBox="1"/>
          <p:nvPr>
            <p:custDataLst>
              <p:tags r:id="rId5"/>
            </p:custDataLst>
          </p:nvPr>
        </p:nvSpPr>
        <p:spPr>
          <a:xfrm>
            <a:off x="8895080" y="2746375"/>
            <a:ext cx="8488680" cy="96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Thời gian phản hồi trung bình cho thao tác tìm kiếm và đặt phòng dưới 2.0 giây, đảm bảo trải nghiệm mượt mà.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382" name="Google Shape;382;p27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53400" y="4000500"/>
            <a:ext cx="473710" cy="50736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7"/>
          <p:cNvSpPr txBox="1"/>
          <p:nvPr>
            <p:custDataLst>
              <p:tags r:id="rId8"/>
            </p:custDataLst>
          </p:nvPr>
        </p:nvSpPr>
        <p:spPr>
          <a:xfrm>
            <a:off x="8915189" y="4000306"/>
            <a:ext cx="2104279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Độ tin cậy</a:t>
            </a:r>
            <a:endParaRPr lang="en-US" sz="3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374" name="Google Shape;374;p27"/>
          <p:cNvSpPr txBox="1"/>
          <p:nvPr>
            <p:custDataLst>
              <p:tags r:id="rId9"/>
            </p:custDataLst>
          </p:nvPr>
        </p:nvSpPr>
        <p:spPr>
          <a:xfrm>
            <a:off x="8895080" y="4535170"/>
            <a:ext cx="8488045" cy="910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Hệ thống </a:t>
            </a:r>
            <a:r>
              <a:rPr lang="en-US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đ</a:t>
            </a:r>
            <a:r>
              <a:rPr lang="en-US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ảm bảo tính nhất quán dữ liệu và hạn chế hiệu quả tình trạng overbooking trong các kịch bản kiểm thử </a:t>
            </a:r>
            <a:r>
              <a:rPr lang="en-US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đ</a:t>
            </a:r>
            <a:r>
              <a:rPr lang="en-US" alt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ã thực hiện.</a:t>
            </a:r>
            <a:endParaRPr lang="en-US" alt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383" name="Google Shape;383;p27" descr="image.png"/>
          <p:cNvPicPr preferRelativeResize="0"/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8153400" y="5674995"/>
            <a:ext cx="448945" cy="49657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7"/>
          <p:cNvSpPr txBox="1"/>
          <p:nvPr>
            <p:custDataLst>
              <p:tags r:id="rId12"/>
            </p:custDataLst>
          </p:nvPr>
        </p:nvSpPr>
        <p:spPr>
          <a:xfrm>
            <a:off x="8914888" y="5732654"/>
            <a:ext cx="2104279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Bảo mật</a:t>
            </a:r>
            <a:endParaRPr lang="en-US" sz="3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377" name="Google Shape;377;p27"/>
          <p:cNvSpPr txBox="1"/>
          <p:nvPr>
            <p:custDataLst>
              <p:tags r:id="rId13"/>
            </p:custDataLst>
          </p:nvPr>
        </p:nvSpPr>
        <p:spPr>
          <a:xfrm>
            <a:off x="8894445" y="6210300"/>
            <a:ext cx="8489950" cy="10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Phân quyền vai trò hệ thống chặt chẽ thông qua xác thực an toàn. Mật khẩu người dùng được mã hóa bảo mật tối đa.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384" name="Google Shape;384;p27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8229600" y="7411720"/>
            <a:ext cx="334010" cy="447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7"/>
          <p:cNvSpPr txBox="1"/>
          <p:nvPr>
            <p:custDataLst>
              <p:tags r:id="rId16"/>
            </p:custDataLst>
          </p:nvPr>
        </p:nvSpPr>
        <p:spPr>
          <a:xfrm>
            <a:off x="8895019" y="7429414"/>
            <a:ext cx="2104279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rPr>
              <a:t>Khả dụng</a:t>
            </a:r>
            <a:endParaRPr lang="en-US" sz="3000" b="1" i="0" u="none" strike="noStrike" cap="none">
              <a:solidFill>
                <a:srgbClr val="1E293B"/>
              </a:solidFill>
              <a:latin typeface="Open Sans" pitchFamily="34" charset="0"/>
              <a:ea typeface="Plus Jakarta Sans"/>
              <a:cs typeface="Open Sans" pitchFamily="34" charset="0"/>
              <a:sym typeface="Plus Jakarta Sans"/>
            </a:endParaRPr>
          </a:p>
        </p:txBody>
      </p:sp>
      <p:sp>
        <p:nvSpPr>
          <p:cNvPr id="380" name="Google Shape;380;p27"/>
          <p:cNvSpPr txBox="1"/>
          <p:nvPr>
            <p:custDataLst>
              <p:tags r:id="rId17"/>
            </p:custDataLst>
          </p:nvPr>
        </p:nvSpPr>
        <p:spPr>
          <a:xfrm>
            <a:off x="8915400" y="7886700"/>
            <a:ext cx="8467725" cy="906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Giao diện tương thích hoàn hảo và tối ưu trải nghiệm trên mọi hệ điều hành cũng như kích thước màn hình thiết bị.</a:t>
            </a:r>
            <a:endParaRPr lang="en-US" sz="2000" b="0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  <p:sp>
        <p:nvSpPr>
          <p:cNvPr id="12" name="Rectangle: Rounded Corners 46"/>
          <p:cNvSpPr/>
          <p:nvPr>
            <p:custDataLst>
              <p:tags r:id="rId19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12/1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905000" y="3695700"/>
            <a:ext cx="15364460" cy="1685290"/>
            <a:chOff x="3000" y="5820"/>
            <a:chExt cx="24196" cy="2654"/>
          </a:xfrm>
        </p:grpSpPr>
        <p:sp>
          <p:nvSpPr>
            <p:cNvPr id="258" name="Google Shape;258;p24"/>
            <p:cNvSpPr/>
            <p:nvPr/>
          </p:nvSpPr>
          <p:spPr>
            <a:xfrm>
              <a:off x="12600" y="8340"/>
              <a:ext cx="2700" cy="1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Calibri" panose="020F0502020204030204"/>
              </a:endParaRPr>
            </a:p>
          </p:txBody>
        </p:sp>
        <p:sp>
          <p:nvSpPr>
            <p:cNvPr id="259" name="Google Shape;259;p24"/>
            <p:cNvSpPr txBox="1"/>
            <p:nvPr/>
          </p:nvSpPr>
          <p:spPr>
            <a:xfrm>
              <a:off x="3000" y="5820"/>
              <a:ext cx="24196" cy="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PHẦN 4: KẾT QUẢ ĐẠT ĐƯỢC</a:t>
              </a:r>
              <a:r>
                <a:rPr lang="vi-VN" alt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 </a:t>
              </a:r>
              <a:endParaRPr lang="vi-VN" altLang="en-US" sz="8100" b="1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Poppins"/>
              </a:endParaRPr>
            </a:p>
          </p:txBody>
        </p:sp>
      </p:grpSp>
      <p:sp>
        <p:nvSpPr>
          <p:cNvPr id="12" name="Rectangle: Rounded Corners 46"/>
          <p:cNvSpPr/>
          <p:nvPr>
            <p:custDataLst>
              <p:tags r:id="rId1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13/1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8" y="69064"/>
            <a:ext cx="4534682" cy="77977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238875" y="545338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2;p19"/>
          <p:cNvSpPr txBox="1"/>
          <p:nvPr/>
        </p:nvSpPr>
        <p:spPr>
          <a:xfrm>
            <a:off x="1143000" y="571500"/>
            <a:ext cx="7752080" cy="65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4275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Sản phẩm thực tế đạt </a:t>
            </a:r>
            <a:r>
              <a:rPr lang="vi-VN" altLang="en-US" sz="4275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được</a:t>
            </a:r>
            <a:endParaRPr lang="vi-VN" altLang="en-US" sz="4275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964"/>
          <a:stretch>
            <a:fillRect/>
          </a:stretch>
        </p:blipFill>
        <p:spPr>
          <a:xfrm>
            <a:off x="609600" y="2095500"/>
            <a:ext cx="7825105" cy="571944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2095500"/>
            <a:ext cx="8964295" cy="5718810"/>
          </a:xfrm>
          <a:prstGeom prst="rect">
            <a:avLst/>
          </a:prstGeom>
        </p:spPr>
      </p:pic>
      <p:sp>
        <p:nvSpPr>
          <p:cNvPr id="407" name="Google Shape;407;p29"/>
          <p:cNvSpPr txBox="1"/>
          <p:nvPr>
            <p:custDataLst>
              <p:tags r:id="rId5"/>
            </p:custDataLst>
          </p:nvPr>
        </p:nvSpPr>
        <p:spPr>
          <a:xfrm>
            <a:off x="1219200" y="8039100"/>
            <a:ext cx="7028180" cy="57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500" b="1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Thông tin chi tiết khách sạn</a:t>
            </a:r>
            <a:endParaRPr lang="vi-VN" altLang="en-US" sz="2500" b="1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6" name="Google Shape;407;p29"/>
          <p:cNvSpPr txBox="1"/>
          <p:nvPr>
            <p:custDataLst>
              <p:tags r:id="rId6"/>
            </p:custDataLst>
          </p:nvPr>
        </p:nvSpPr>
        <p:spPr>
          <a:xfrm>
            <a:off x="9677400" y="8166100"/>
            <a:ext cx="7028180" cy="57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500" b="1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Thông tin phòng </a:t>
            </a:r>
            <a:r>
              <a:rPr lang="vi-VN" altLang="en-US" sz="2500" b="1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thuộc khách sạn</a:t>
            </a:r>
            <a:endParaRPr lang="vi-VN" altLang="en-US" sz="2500" b="1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057400" y="-1866265"/>
            <a:ext cx="15364460" cy="1685290"/>
            <a:chOff x="3000" y="5820"/>
            <a:chExt cx="24196" cy="2654"/>
          </a:xfrm>
        </p:grpSpPr>
        <p:sp>
          <p:nvSpPr>
            <p:cNvPr id="258" name="Google Shape;258;p24"/>
            <p:cNvSpPr/>
            <p:nvPr/>
          </p:nvSpPr>
          <p:spPr>
            <a:xfrm>
              <a:off x="12600" y="8340"/>
              <a:ext cx="2700" cy="1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p>
              <a:pPr algn="ctr"/>
              <a:endParaRPr sz="2700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Calibri" panose="020F0502020204030204"/>
              </a:endParaRPr>
            </a:p>
          </p:txBody>
        </p:sp>
        <p:sp>
          <p:nvSpPr>
            <p:cNvPr id="259" name="Google Shape;259;p24"/>
            <p:cNvSpPr txBox="1"/>
            <p:nvPr/>
          </p:nvSpPr>
          <p:spPr>
            <a:xfrm>
              <a:off x="3000" y="5820"/>
              <a:ext cx="24196" cy="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p>
              <a:pPr algn="ctr"/>
              <a:r>
                <a:rPr 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PHẦN 4: KẾT QUẢ ĐẠT ĐƯỢC</a:t>
              </a:r>
              <a:r>
                <a:rPr lang="vi-VN" altLang="en-US" sz="8100" b="1">
                  <a:solidFill>
                    <a:schemeClr val="accent1">
                      <a:lumMod val="75000"/>
                    </a:schemeClr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  <a:sym typeface="Poppins"/>
                </a:rPr>
                <a:t> </a:t>
              </a:r>
              <a:endParaRPr lang="vi-VN" altLang="en-US" sz="8100" b="1">
                <a:solidFill>
                  <a:schemeClr val="accent1">
                    <a:lumMod val="7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  <a:sym typeface="Poppins"/>
              </a:endParaRPr>
            </a:p>
          </p:txBody>
        </p:sp>
      </p:grpSp>
      <p:sp>
        <p:nvSpPr>
          <p:cNvPr id="12" name="Rectangle: Rounded Corners 46"/>
          <p:cNvSpPr/>
          <p:nvPr>
            <p:custDataLst>
              <p:tags r:id="rId7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14/1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2;p19"/>
          <p:cNvSpPr txBox="1"/>
          <p:nvPr/>
        </p:nvSpPr>
        <p:spPr>
          <a:xfrm>
            <a:off x="1143000" y="571500"/>
            <a:ext cx="7752080" cy="65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4275" b="1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Sản phẩm thực tế đạt được</a:t>
            </a:r>
            <a:endParaRPr lang="vi-VN" altLang="en-US" sz="4275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2524" r="1563"/>
          <a:stretch>
            <a:fillRect/>
          </a:stretch>
        </p:blipFill>
        <p:spPr>
          <a:xfrm>
            <a:off x="838200" y="2933700"/>
            <a:ext cx="7500620" cy="4832350"/>
          </a:xfrm>
          <a:prstGeom prst="rect">
            <a:avLst/>
          </a:prstGeom>
        </p:spPr>
      </p:pic>
      <p:sp>
        <p:nvSpPr>
          <p:cNvPr id="10" name="Google Shape;407;p29"/>
          <p:cNvSpPr txBox="1"/>
          <p:nvPr>
            <p:custDataLst>
              <p:tags r:id="rId4"/>
            </p:custDataLst>
          </p:nvPr>
        </p:nvSpPr>
        <p:spPr>
          <a:xfrm>
            <a:off x="11049000" y="9334500"/>
            <a:ext cx="5160010" cy="57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500" b="1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Đặt phòng khách </a:t>
            </a:r>
            <a:r>
              <a:rPr lang="vi-VN" altLang="en-US" sz="2500" b="1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sạn</a:t>
            </a:r>
            <a:endParaRPr lang="vi-VN" altLang="en-US" sz="2500" b="1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sp>
        <p:nvSpPr>
          <p:cNvPr id="11" name="Google Shape;407;p29"/>
          <p:cNvSpPr txBox="1"/>
          <p:nvPr>
            <p:custDataLst>
              <p:tags r:id="rId5"/>
            </p:custDataLst>
          </p:nvPr>
        </p:nvSpPr>
        <p:spPr>
          <a:xfrm>
            <a:off x="914400" y="7962900"/>
            <a:ext cx="7028180" cy="57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500" b="1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Tìm kiếm khách </a:t>
            </a:r>
            <a:r>
              <a:rPr lang="vi-VN" altLang="en-US" sz="2500" b="1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rPr>
              <a:t>sạn</a:t>
            </a:r>
            <a:endParaRPr lang="vi-VN" altLang="en-US" sz="2500" b="1" i="0" u="none" strike="noStrike" cap="none">
              <a:solidFill>
                <a:srgbClr val="475569"/>
              </a:solidFill>
              <a:latin typeface="Open Sans" pitchFamily="34" charset="0"/>
              <a:ea typeface="Inter" panose="02000503000000020004"/>
              <a:cs typeface="Open Sans" pitchFamily="34" charset="0"/>
              <a:sym typeface="Inter" panose="020005030000000200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rcRect l="4713" r="4566"/>
          <a:stretch>
            <a:fillRect/>
          </a:stretch>
        </p:blipFill>
        <p:spPr>
          <a:xfrm>
            <a:off x="10210800" y="1333500"/>
            <a:ext cx="6403340" cy="7785735"/>
          </a:xfrm>
          <a:prstGeom prst="rect">
            <a:avLst/>
          </a:prstGeom>
        </p:spPr>
      </p:pic>
      <p:sp>
        <p:nvSpPr>
          <p:cNvPr id="2" name="Rectangle: Rounded Corners 46"/>
          <p:cNvSpPr/>
          <p:nvPr>
            <p:custDataLst>
              <p:tags r:id="rId7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15/1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9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143000" y="5746448"/>
            <a:ext cx="16296423" cy="5820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9"/>
          <p:cNvSpPr txBox="1"/>
          <p:nvPr/>
        </p:nvSpPr>
        <p:spPr>
          <a:xfrm>
            <a:off x="1143000" y="857250"/>
            <a:ext cx="16802100" cy="65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5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 ExtraBold"/>
                <a:cs typeface="Open Sans" pitchFamily="34" charset="0"/>
                <a:sym typeface="Plus Jakarta Sans ExtraBold"/>
              </a:rPr>
              <a:t>Lộ trình phát triển 2026+</a:t>
            </a:r>
            <a:endParaRPr lang="en-US" sz="4275" b="1" i="0" u="none" strike="noStrike" cap="none">
              <a:solidFill>
                <a:srgbClr val="1E3A8A"/>
              </a:solidFill>
              <a:latin typeface="Open Sans" pitchFamily="34" charset="0"/>
              <a:ea typeface="Plus Jakarta Sans ExtraBold"/>
              <a:cs typeface="Open Sans" pitchFamily="34" charset="0"/>
              <a:sym typeface="Plus Jakarta Sans ExtraBold"/>
            </a:endParaRPr>
          </a:p>
        </p:txBody>
      </p:sp>
      <p:grpSp>
        <p:nvGrpSpPr>
          <p:cNvPr id="6" name="Group 5"/>
          <p:cNvGrpSpPr/>
          <p:nvPr>
            <p:custDataLst>
              <p:tags r:id="rId4"/>
            </p:custDataLst>
          </p:nvPr>
        </p:nvGrpSpPr>
        <p:grpSpPr>
          <a:xfrm>
            <a:off x="775335" y="5600700"/>
            <a:ext cx="4488815" cy="3122295"/>
            <a:chOff x="1800" y="8820"/>
            <a:chExt cx="5796" cy="3690"/>
          </a:xfrm>
        </p:grpSpPr>
        <p:pic>
          <p:nvPicPr>
            <p:cNvPr id="400" name="Google Shape;400;p29" descr="image.png"/>
            <p:cNvPicPr preferRelativeResize="0"/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800" y="9585"/>
              <a:ext cx="5796" cy="2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29"/>
            <p:cNvSpPr txBox="1"/>
            <p:nvPr>
              <p:custDataLst>
                <p:tags r:id="rId7"/>
              </p:custDataLst>
            </p:nvPr>
          </p:nvSpPr>
          <p:spPr>
            <a:xfrm>
              <a:off x="2104" y="10013"/>
              <a:ext cx="5188" cy="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1E3A8A"/>
                  </a:solidFill>
                  <a:latin typeface="Open Sans" pitchFamily="34" charset="0"/>
                  <a:ea typeface="Plus Jakarta Sans"/>
                  <a:cs typeface="Open Sans" pitchFamily="34" charset="0"/>
                  <a:sym typeface="Plus Jakarta Sans"/>
                </a:rPr>
                <a:t>Giai đoạn 1</a:t>
              </a:r>
              <a:endParaRPr lang="en-US" sz="2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endParaRPr>
            </a:p>
          </p:txBody>
        </p:sp>
        <p:sp>
          <p:nvSpPr>
            <p:cNvPr id="405" name="Google Shape;405;p29"/>
            <p:cNvSpPr txBox="1"/>
            <p:nvPr>
              <p:custDataLst>
                <p:tags r:id="rId8"/>
              </p:custDataLst>
            </p:nvPr>
          </p:nvSpPr>
          <p:spPr>
            <a:xfrm>
              <a:off x="2228" y="10665"/>
              <a:ext cx="4941" cy="1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75569"/>
                  </a:solidFill>
                  <a:latin typeface="Open Sans" pitchFamily="34" charset="0"/>
                  <a:ea typeface="Inter" panose="02000503000000020004"/>
                  <a:cs typeface="Open Sans" pitchFamily="34" charset="0"/>
                  <a:sym typeface="Inter" panose="02000503000000020004"/>
                </a:rPr>
                <a:t>Tích hợp cổng thanh toán trực tuyến thực tế, gia cố hệ thống bảo mật thông tin đa lớp.</a:t>
              </a:r>
              <a:endPara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endParaRPr>
            </a:p>
          </p:txBody>
        </p:sp>
        <p:sp>
          <p:nvSpPr>
            <p:cNvPr id="413" name="Google Shape;413;p29"/>
            <p:cNvSpPr/>
            <p:nvPr>
              <p:custDataLst>
                <p:tags r:id="rId9"/>
              </p:custDataLst>
            </p:nvPr>
          </p:nvSpPr>
          <p:spPr>
            <a:xfrm>
              <a:off x="4495" y="8820"/>
              <a:ext cx="405" cy="40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810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7137" tIns="68550" rIns="137137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Open Sans" pitchFamily="34" charset="0"/>
                <a:ea typeface="Calibri" panose="020F0502020204030204"/>
                <a:cs typeface="Open Sans" pitchFamily="34" charset="0"/>
                <a:sym typeface="Calibri" panose="020F0502020204030204"/>
              </a:endParaRPr>
            </a:p>
          </p:txBody>
        </p:sp>
      </p:grpSp>
      <p:grpSp>
        <p:nvGrpSpPr>
          <p:cNvPr id="2" name="Group 1"/>
          <p:cNvGrpSpPr/>
          <p:nvPr>
            <p:custDataLst>
              <p:tags r:id="rId10"/>
            </p:custDataLst>
          </p:nvPr>
        </p:nvGrpSpPr>
        <p:grpSpPr>
          <a:xfrm>
            <a:off x="4840605" y="2477135"/>
            <a:ext cx="4729480" cy="3455670"/>
            <a:chOff x="8268" y="5063"/>
            <a:chExt cx="5796" cy="4162"/>
          </a:xfrm>
        </p:grpSpPr>
        <p:pic>
          <p:nvPicPr>
            <p:cNvPr id="401" name="Google Shape;401;p29" descr="image.png"/>
            <p:cNvPicPr preferRelativeResize="0"/>
            <p:nvPr>
              <p:custDataLst>
                <p:tags r:id="rId11"/>
              </p:custDataLst>
            </p:nvPr>
          </p:nvPicPr>
          <p:blipFill rotWithShape="1">
            <a:blip r:embed="rId12"/>
            <a:srcRect/>
            <a:stretch>
              <a:fillRect/>
            </a:stretch>
          </p:blipFill>
          <p:spPr>
            <a:xfrm>
              <a:off x="8268" y="5063"/>
              <a:ext cx="5796" cy="33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29"/>
            <p:cNvSpPr txBox="1"/>
            <p:nvPr>
              <p:custDataLst>
                <p:tags r:id="rId13"/>
              </p:custDataLst>
            </p:nvPr>
          </p:nvSpPr>
          <p:spPr>
            <a:xfrm>
              <a:off x="8572" y="5490"/>
              <a:ext cx="5188" cy="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1E3A8A"/>
                  </a:solidFill>
                  <a:latin typeface="Open Sans" pitchFamily="34" charset="0"/>
                  <a:ea typeface="Plus Jakarta Sans"/>
                  <a:cs typeface="Open Sans" pitchFamily="34" charset="0"/>
                  <a:sym typeface="Plus Jakarta Sans"/>
                </a:rPr>
                <a:t>Giai đoạn 2</a:t>
              </a:r>
              <a:endParaRPr lang="en-US" sz="2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endParaRPr>
            </a:p>
          </p:txBody>
        </p:sp>
        <p:sp>
          <p:nvSpPr>
            <p:cNvPr id="407" name="Google Shape;407;p29"/>
            <p:cNvSpPr txBox="1"/>
            <p:nvPr>
              <p:custDataLst>
                <p:tags r:id="rId14"/>
              </p:custDataLst>
            </p:nvPr>
          </p:nvSpPr>
          <p:spPr>
            <a:xfrm>
              <a:off x="8696" y="6143"/>
              <a:ext cx="4941" cy="16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75569"/>
                  </a:solidFill>
                  <a:latin typeface="Open Sans" pitchFamily="34" charset="0"/>
                  <a:ea typeface="Inter" panose="02000503000000020004"/>
                  <a:cs typeface="Open Sans" pitchFamily="34" charset="0"/>
                  <a:sym typeface="Inter" panose="02000503000000020004"/>
                </a:rPr>
                <a:t>Xây dựng và phát hành ứng dụng di động (Mobile App iOS/Android) để tăng khả năng tiếp cận.</a:t>
              </a:r>
              <a:endPara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endParaRPr>
            </a:p>
          </p:txBody>
        </p:sp>
        <p:sp>
          <p:nvSpPr>
            <p:cNvPr id="414" name="Google Shape;414;p29"/>
            <p:cNvSpPr/>
            <p:nvPr>
              <p:custDataLst>
                <p:tags r:id="rId15"/>
              </p:custDataLst>
            </p:nvPr>
          </p:nvSpPr>
          <p:spPr>
            <a:xfrm>
              <a:off x="10963" y="8820"/>
              <a:ext cx="405" cy="40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810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7137" tIns="68550" rIns="137137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Open Sans" pitchFamily="34" charset="0"/>
                <a:ea typeface="Calibri" panose="020F0502020204030204"/>
                <a:cs typeface="Open Sans" pitchFamily="34" charset="0"/>
                <a:sym typeface="Calibri" panose="020F0502020204030204"/>
              </a:endParaRPr>
            </a:p>
          </p:txBody>
        </p:sp>
      </p:grpSp>
      <p:grpSp>
        <p:nvGrpSpPr>
          <p:cNvPr id="4" name="Group 3"/>
          <p:cNvGrpSpPr/>
          <p:nvPr>
            <p:custDataLst>
              <p:tags r:id="rId16"/>
            </p:custDataLst>
          </p:nvPr>
        </p:nvGrpSpPr>
        <p:grpSpPr>
          <a:xfrm>
            <a:off x="8983980" y="5559425"/>
            <a:ext cx="4836795" cy="3163918"/>
            <a:chOff x="14736" y="8820"/>
            <a:chExt cx="5796" cy="3690"/>
          </a:xfrm>
        </p:grpSpPr>
        <p:pic>
          <p:nvPicPr>
            <p:cNvPr id="402" name="Google Shape;402;p29" descr="image.png"/>
            <p:cNvPicPr preferRelativeResize="0"/>
            <p:nvPr>
              <p:custDataLst>
                <p:tags r:id="rId17"/>
              </p:custDataLst>
            </p:nvPr>
          </p:nvPicPr>
          <p:blipFill rotWithShape="1">
            <a:blip r:embed="rId18"/>
            <a:srcRect/>
            <a:stretch>
              <a:fillRect/>
            </a:stretch>
          </p:blipFill>
          <p:spPr>
            <a:xfrm>
              <a:off x="14736" y="9585"/>
              <a:ext cx="5796" cy="2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29"/>
            <p:cNvSpPr txBox="1"/>
            <p:nvPr>
              <p:custDataLst>
                <p:tags r:id="rId19"/>
              </p:custDataLst>
            </p:nvPr>
          </p:nvSpPr>
          <p:spPr>
            <a:xfrm>
              <a:off x="15040" y="10013"/>
              <a:ext cx="5188" cy="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1E3A8A"/>
                  </a:solidFill>
                  <a:latin typeface="Open Sans" pitchFamily="34" charset="0"/>
                  <a:ea typeface="Plus Jakarta Sans"/>
                  <a:cs typeface="Open Sans" pitchFamily="34" charset="0"/>
                  <a:sym typeface="Plus Jakarta Sans"/>
                </a:rPr>
                <a:t>Giai đoạn 3</a:t>
              </a:r>
              <a:endParaRPr lang="en-US" sz="2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endParaRPr>
            </a:p>
          </p:txBody>
        </p:sp>
        <p:sp>
          <p:nvSpPr>
            <p:cNvPr id="409" name="Google Shape;409;p29"/>
            <p:cNvSpPr txBox="1"/>
            <p:nvPr>
              <p:custDataLst>
                <p:tags r:id="rId20"/>
              </p:custDataLst>
            </p:nvPr>
          </p:nvSpPr>
          <p:spPr>
            <a:xfrm>
              <a:off x="15164" y="10665"/>
              <a:ext cx="4941" cy="1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75569"/>
                  </a:solidFill>
                  <a:latin typeface="Open Sans" pitchFamily="34" charset="0"/>
                  <a:ea typeface="Inter" panose="02000503000000020004"/>
                  <a:cs typeface="Open Sans" pitchFamily="34" charset="0"/>
                  <a:sym typeface="Inter" panose="02000503000000020004"/>
                </a:rPr>
                <a:t>Ứng dụng AI thông minh hỗ trợ gợi ý khách sạn phù hợp theo hành vi và sở thích người dùng.</a:t>
              </a:r>
              <a:endPara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endParaRPr>
            </a:p>
          </p:txBody>
        </p:sp>
        <p:sp>
          <p:nvSpPr>
            <p:cNvPr id="415" name="Google Shape;415;p29"/>
            <p:cNvSpPr/>
            <p:nvPr>
              <p:custDataLst>
                <p:tags r:id="rId21"/>
              </p:custDataLst>
            </p:nvPr>
          </p:nvSpPr>
          <p:spPr>
            <a:xfrm>
              <a:off x="17432" y="8820"/>
              <a:ext cx="405" cy="40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810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7137" tIns="68550" rIns="137137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Open Sans" pitchFamily="34" charset="0"/>
                <a:ea typeface="Calibri" panose="020F0502020204030204"/>
                <a:cs typeface="Open Sans" pitchFamily="34" charset="0"/>
                <a:sym typeface="Calibri" panose="020F0502020204030204"/>
              </a:endParaRPr>
            </a:p>
          </p:txBody>
        </p:sp>
      </p:grpSp>
      <p:grpSp>
        <p:nvGrpSpPr>
          <p:cNvPr id="5" name="Group 4"/>
          <p:cNvGrpSpPr/>
          <p:nvPr>
            <p:custDataLst>
              <p:tags r:id="rId22"/>
            </p:custDataLst>
          </p:nvPr>
        </p:nvGrpSpPr>
        <p:grpSpPr>
          <a:xfrm>
            <a:off x="13258800" y="2413635"/>
            <a:ext cx="4657090" cy="3539490"/>
            <a:chOff x="21204" y="5063"/>
            <a:chExt cx="5796" cy="4162"/>
          </a:xfrm>
        </p:grpSpPr>
        <p:pic>
          <p:nvPicPr>
            <p:cNvPr id="403" name="Google Shape;403;p29" descr="image.png"/>
            <p:cNvPicPr preferRelativeResize="0"/>
            <p:nvPr>
              <p:custDataLst>
                <p:tags r:id="rId23"/>
              </p:custDataLst>
            </p:nvPr>
          </p:nvPicPr>
          <p:blipFill rotWithShape="1">
            <a:blip r:embed="rId24"/>
            <a:srcRect/>
            <a:stretch>
              <a:fillRect/>
            </a:stretch>
          </p:blipFill>
          <p:spPr>
            <a:xfrm>
              <a:off x="21204" y="5063"/>
              <a:ext cx="5796" cy="33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29"/>
            <p:cNvSpPr txBox="1"/>
            <p:nvPr>
              <p:custDataLst>
                <p:tags r:id="rId25"/>
              </p:custDataLst>
            </p:nvPr>
          </p:nvSpPr>
          <p:spPr>
            <a:xfrm>
              <a:off x="21508" y="5490"/>
              <a:ext cx="5188" cy="4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1E3A8A"/>
                  </a:solidFill>
                  <a:latin typeface="Open Sans" pitchFamily="34" charset="0"/>
                  <a:ea typeface="Plus Jakarta Sans"/>
                  <a:cs typeface="Open Sans" pitchFamily="34" charset="0"/>
                  <a:sym typeface="Plus Jakarta Sans"/>
                </a:rPr>
                <a:t>Giai đoạn 4</a:t>
              </a:r>
              <a:endParaRPr lang="en-US" sz="2500" b="1" i="0" u="none" strike="noStrike" cap="none">
                <a:solidFill>
                  <a:srgbClr val="1E3A8A"/>
                </a:solidFill>
                <a:latin typeface="Open Sans" pitchFamily="34" charset="0"/>
                <a:ea typeface="Plus Jakarta Sans"/>
                <a:cs typeface="Open Sans" pitchFamily="34" charset="0"/>
                <a:sym typeface="Plus Jakarta Sans"/>
              </a:endParaRPr>
            </a:p>
          </p:txBody>
        </p:sp>
        <p:sp>
          <p:nvSpPr>
            <p:cNvPr id="411" name="Google Shape;411;p29"/>
            <p:cNvSpPr txBox="1"/>
            <p:nvPr>
              <p:custDataLst>
                <p:tags r:id="rId26"/>
              </p:custDataLst>
            </p:nvPr>
          </p:nvSpPr>
          <p:spPr>
            <a:xfrm>
              <a:off x="21632" y="6143"/>
              <a:ext cx="4941" cy="2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75569"/>
                  </a:solidFill>
                  <a:latin typeface="Open Sans" pitchFamily="34" charset="0"/>
                  <a:ea typeface="Inter" panose="02000503000000020004"/>
                  <a:cs typeface="Open Sans" pitchFamily="34" charset="0"/>
                  <a:sym typeface="Inter" panose="02000503000000020004"/>
                </a:rPr>
                <a:t>Đóng gói ứng dụng (Docker/Kubernetes), triển khai Cloud Server tối ưu chịu tải quy mô lớn.</a:t>
              </a:r>
              <a:endParaRPr lang="en-US" sz="2000" b="0" i="0" u="none" strike="noStrike" cap="none">
                <a:solidFill>
                  <a:srgbClr val="475569"/>
                </a:solidFill>
                <a:latin typeface="Open Sans" pitchFamily="34" charset="0"/>
                <a:ea typeface="Inter" panose="02000503000000020004"/>
                <a:cs typeface="Open Sans" pitchFamily="34" charset="0"/>
                <a:sym typeface="Inter" panose="02000503000000020004"/>
              </a:endParaRPr>
            </a:p>
          </p:txBody>
        </p:sp>
        <p:sp>
          <p:nvSpPr>
            <p:cNvPr id="416" name="Google Shape;416;p29"/>
            <p:cNvSpPr/>
            <p:nvPr>
              <p:custDataLst>
                <p:tags r:id="rId27"/>
              </p:custDataLst>
            </p:nvPr>
          </p:nvSpPr>
          <p:spPr>
            <a:xfrm>
              <a:off x="23900" y="8820"/>
              <a:ext cx="405" cy="40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810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7137" tIns="68550" rIns="137137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Open Sans" pitchFamily="34" charset="0"/>
                <a:ea typeface="Calibri" panose="020F0502020204030204"/>
                <a:cs typeface="Open Sans" pitchFamily="34" charset="0"/>
                <a:sym typeface="Calibri" panose="020F0502020204030204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056995" y="0"/>
            <a:ext cx="4243705" cy="729615"/>
          </a:xfrm>
          <a:prstGeom prst="rect">
            <a:avLst/>
          </a:prstGeom>
        </p:spPr>
      </p:pic>
      <p:sp>
        <p:nvSpPr>
          <p:cNvPr id="12" name="Rectangle: Rounded Corners 46"/>
          <p:cNvSpPr/>
          <p:nvPr>
            <p:custDataLst>
              <p:tags r:id="rId29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16/1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0226" y="9836070"/>
            <a:ext cx="11885235" cy="901859"/>
            <a:chOff x="0" y="0"/>
            <a:chExt cx="3130268" cy="237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solidFill>
              <a:srgbClr val="F8CF4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573" b="-2875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3E7B">
                <a:alpha val="9098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30226" y="9836070"/>
            <a:ext cx="11885235" cy="901859"/>
            <a:chOff x="0" y="0"/>
            <a:chExt cx="3130268" cy="2375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0268" cy="237527"/>
            </a:xfrm>
            <a:custGeom>
              <a:avLst/>
              <a:gdLst/>
              <a:ahLst/>
              <a:cxnLst/>
              <a:rect l="l" t="t" r="r" b="b"/>
              <a:pathLst>
                <a:path w="3130268" h="237527">
                  <a:moveTo>
                    <a:pt x="0" y="0"/>
                  </a:moveTo>
                  <a:lnTo>
                    <a:pt x="3130268" y="0"/>
                  </a:lnTo>
                  <a:lnTo>
                    <a:pt x="3130268" y="237527"/>
                  </a:lnTo>
                  <a:lnTo>
                    <a:pt x="0" y="237527"/>
                  </a:lnTo>
                  <a:close/>
                </a:path>
              </a:pathLst>
            </a:custGeom>
            <a:solidFill>
              <a:srgbClr val="FFDB4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130268" cy="30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56156" y="3924305"/>
            <a:ext cx="13975689" cy="125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45"/>
              </a:lnSpc>
            </a:pPr>
            <a:r>
              <a:rPr lang="en-US" sz="7200" b="1" dirty="0">
                <a:solidFill>
                  <a:srgbClr val="FFDB4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EM XIN CHÂN THÀNH CẢM ƠN!</a:t>
            </a:r>
            <a:endParaRPr lang="en-US" sz="7200" b="1" dirty="0">
              <a:solidFill>
                <a:srgbClr val="FFDB4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934276" y="4815507"/>
            <a:ext cx="4062260" cy="136308"/>
            <a:chOff x="0" y="0"/>
            <a:chExt cx="1069896" cy="359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9896" cy="35900"/>
            </a:xfrm>
            <a:custGeom>
              <a:avLst/>
              <a:gdLst/>
              <a:ahLst/>
              <a:cxnLst/>
              <a:rect l="l" t="t" r="r" b="b"/>
              <a:pathLst>
                <a:path w="1069896" h="35900">
                  <a:moveTo>
                    <a:pt x="0" y="0"/>
                  </a:moveTo>
                  <a:lnTo>
                    <a:pt x="1069896" y="0"/>
                  </a:lnTo>
                  <a:lnTo>
                    <a:pt x="1069896" y="35900"/>
                  </a:lnTo>
                  <a:lnTo>
                    <a:pt x="0" y="35900"/>
                  </a:lnTo>
                  <a:close/>
                </a:path>
              </a:pathLst>
            </a:custGeom>
            <a:solidFill>
              <a:srgbClr val="FFDB4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069896" cy="10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18" name="Rectangle: Rounded Corners 46"/>
          <p:cNvSpPr/>
          <p:nvPr>
            <p:custDataLst>
              <p:tags r:id="rId2"/>
            </p:custDataLst>
          </p:nvPr>
        </p:nvSpPr>
        <p:spPr>
          <a:xfrm>
            <a:off x="17145000" y="9715500"/>
            <a:ext cx="1052830" cy="5168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17/1</a:t>
            </a:r>
            <a:r>
              <a:rPr lang="vi-VN" altLang="en-US" sz="24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</a:t>
            </a:r>
            <a:endParaRPr lang="vi-VN" altLang="en-US" sz="24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0" y="0"/>
            <a:ext cx="6534150" cy="1009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-38100"/>
            <a:ext cx="6091555" cy="1047115"/>
          </a:xfrm>
          <a:prstGeom prst="rect">
            <a:avLst/>
          </a:prstGeom>
        </p:spPr>
      </p:pic>
      <p:sp>
        <p:nvSpPr>
          <p:cNvPr id="472" name="Google Shape;472;p27"/>
          <p:cNvSpPr txBox="1"/>
          <p:nvPr/>
        </p:nvSpPr>
        <p:spPr>
          <a:xfrm>
            <a:off x="3581400" y="5372100"/>
            <a:ext cx="11127105" cy="92329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>
                <a:solidFill>
                  <a:schemeClr val="bg1"/>
                </a:solidFill>
                <a:latin typeface="Open Sans" pitchFamily="34" charset="0"/>
                <a:ea typeface="Montserrat Medium" panose="00000600000000000000"/>
                <a:cs typeface="Open Sans" pitchFamily="34" charset="0"/>
                <a:sym typeface="Montserrat Medium" panose="00000600000000000000"/>
              </a:rPr>
              <a:t>Cảm ơn quý thầy</a:t>
            </a:r>
            <a:r>
              <a:rPr lang="vi-VN" altLang="en-US" sz="3000" b="0">
                <a:solidFill>
                  <a:schemeClr val="bg1"/>
                </a:solidFill>
                <a:latin typeface="Open Sans" pitchFamily="34" charset="0"/>
                <a:ea typeface="Montserrat Medium" panose="00000600000000000000"/>
                <a:cs typeface="Open Sans" pitchFamily="34" charset="0"/>
                <a:sym typeface="Montserrat Medium" panose="00000600000000000000"/>
              </a:rPr>
              <a:t> </a:t>
            </a:r>
            <a:r>
              <a:rPr lang="en-US" sz="3000" b="0">
                <a:solidFill>
                  <a:schemeClr val="bg1"/>
                </a:solidFill>
                <a:latin typeface="Open Sans" pitchFamily="34" charset="0"/>
                <a:ea typeface="Montserrat Medium" panose="00000600000000000000"/>
                <a:cs typeface="Open Sans" pitchFamily="34" charset="0"/>
                <a:sym typeface="Montserrat Medium" panose="00000600000000000000"/>
              </a:rPr>
              <a:t>cô</a:t>
            </a:r>
            <a:r>
              <a:rPr lang="vi-VN" altLang="en-US" sz="3000" b="0">
                <a:solidFill>
                  <a:schemeClr val="bg1"/>
                </a:solidFill>
                <a:latin typeface="Open Sans" pitchFamily="34" charset="0"/>
                <a:ea typeface="Montserrat Medium" panose="00000600000000000000"/>
                <a:cs typeface="Open Sans" pitchFamily="34" charset="0"/>
                <a:sym typeface="Montserrat Medium" panose="00000600000000000000"/>
              </a:rPr>
              <a:t>, các bạn</a:t>
            </a:r>
            <a:r>
              <a:rPr lang="en-US" sz="3000" b="0">
                <a:solidFill>
                  <a:schemeClr val="bg1"/>
                </a:solidFill>
                <a:latin typeface="Open Sans" pitchFamily="34" charset="0"/>
                <a:ea typeface="Montserrat Medium" panose="00000600000000000000"/>
                <a:cs typeface="Open Sans" pitchFamily="34" charset="0"/>
                <a:sym typeface="Montserrat Medium" panose="00000600000000000000"/>
              </a:rPr>
              <a:t> đã lắng nghe và theo dõi bài thuyết trình của em!</a:t>
            </a:r>
            <a:endParaRPr lang="en-US" sz="3000" b="0">
              <a:solidFill>
                <a:schemeClr val="bg1"/>
              </a:solidFill>
              <a:latin typeface="Open Sans" pitchFamily="34" charset="0"/>
              <a:ea typeface="Montserrat Medium" panose="00000600000000000000"/>
              <a:cs typeface="Open Sans" pitchFamily="34" charset="0"/>
              <a:sym typeface="Montserrat Medium" panose="0000060000000000000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2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3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4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5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6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7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8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9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0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1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2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3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4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5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6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7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8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19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20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21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22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23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24.xml><?xml version="1.0" encoding="utf-8"?>
<p:tagLst xmlns:p="http://schemas.openxmlformats.org/presentationml/2006/main">
  <p:tag name="KSO_WM_DIAGRAM_VIRTUALLY_FRAME" val="{&quot;height&quot;:452.12503937007875,&quot;left&quot;:60,&quot;top&quot;:188.25,&quot;width&quot;:1361.4}"/>
</p:tagLst>
</file>

<file path=ppt/tags/tag25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26.xml><?xml version="1.0" encoding="utf-8"?>
<p:tagLst xmlns:p="http://schemas.openxmlformats.org/presentationml/2006/main">
  <p:tag name="KSO_WM_DIAGRAM_VIRTUALLY_FRAME" val="{&quot;height&quot;:73.68755905511811,&quot;left&quot;:99.75,&quot;top&quot;:275.81244094488187,&quot;width&quot;:769.5}"/>
</p:tagLst>
</file>

<file path=ppt/tags/tag27.xml><?xml version="1.0" encoding="utf-8"?>
<p:tagLst xmlns:p="http://schemas.openxmlformats.org/presentationml/2006/main">
  <p:tag name="KSO_WM_DIAGRAM_VIRTUALLY_FRAME" val="{&quot;height&quot;:73.68755905511811,&quot;left&quot;:99.75,&quot;top&quot;:275.81244094488187,&quot;width&quot;:769.5}"/>
</p:tagLst>
</file>

<file path=ppt/tags/tag28.xml><?xml version="1.0" encoding="utf-8"?>
<p:tagLst xmlns:p="http://schemas.openxmlformats.org/presentationml/2006/main">
  <p:tag name="KSO_WM_DIAGRAM_VIRTUALLY_FRAME" val="{&quot;height&quot;:73.68755905511811,&quot;left&quot;:99.75,&quot;top&quot;:275.81244094488187,&quot;width&quot;:769.5}"/>
</p:tagLst>
</file>

<file path=ppt/tags/tag29.xml><?xml version="1.0" encoding="utf-8"?>
<p:tagLst xmlns:p="http://schemas.openxmlformats.org/presentationml/2006/main">
  <p:tag name="KSO_WM_DIAGRAM_VIRTUALLY_FRAME" val="{&quot;height&quot;:73.68755905511811,&quot;left&quot;:99.75,&quot;top&quot;:275.81244094488187,&quot;width&quot;:769.5}"/>
</p:tagLst>
</file>

<file path=ppt/tags/tag30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31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32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33.xml><?xml version="1.0" encoding="utf-8"?>
<p:tagLst xmlns:p="http://schemas.openxmlformats.org/presentationml/2006/main">
  <p:tag name="KSO_WM_DIAGRAM_VIRTUALLY_FRAME" val="{&quot;height&quot;:691.35,&quot;left&quot;:60,&quot;top&quot;:73.65,&quot;width&quot;:1336.45}"/>
</p:tagLst>
</file>

<file path=ppt/tags/tag34.xml><?xml version="1.0" encoding="utf-8"?>
<p:tagLst xmlns:p="http://schemas.openxmlformats.org/presentationml/2006/main">
  <p:tag name="KSO_WM_DIAGRAM_VIRTUALLY_FRAME" val="{&quot;height&quot;:553.4250393700788,&quot;left&quot;:60,&quot;top&quot;:73.65,&quot;width&quot;:1290}"/>
</p:tagLst>
</file>

<file path=ppt/tags/tag35.xml><?xml version="1.0" encoding="utf-8"?>
<p:tagLst xmlns:p="http://schemas.openxmlformats.org/presentationml/2006/main">
  <p:tag name="KSO_WM_DIAGRAM_VIRTUALLY_FRAME" val="{&quot;height&quot;:691.35,&quot;left&quot;:60,&quot;top&quot;:73.65,&quot;width&quot;:1336.45}"/>
</p:tagLst>
</file>

<file path=ppt/tags/tag36.xml><?xml version="1.0" encoding="utf-8"?>
<p:tagLst xmlns:p="http://schemas.openxmlformats.org/presentationml/2006/main">
  <p:tag name="KSO_WM_DIAGRAM_VIRTUALLY_FRAME" val="{&quot;height&quot;:553.4250393700788,&quot;left&quot;:60,&quot;top&quot;:73.65,&quot;width&quot;:1290}"/>
</p:tagLst>
</file>

<file path=ppt/tags/tag37.xml><?xml version="1.0" encoding="utf-8"?>
<p:tagLst xmlns:p="http://schemas.openxmlformats.org/presentationml/2006/main">
  <p:tag name="KSO_WM_DIAGRAM_VIRTUALLY_FRAME" val="{&quot;height&quot;:691.35,&quot;left&quot;:60,&quot;top&quot;:73.65,&quot;width&quot;:1336.45}"/>
</p:tagLst>
</file>

<file path=ppt/tags/tag38.xml><?xml version="1.0" encoding="utf-8"?>
<p:tagLst xmlns:p="http://schemas.openxmlformats.org/presentationml/2006/main">
  <p:tag name="KSO_WM_DIAGRAM_VIRTUALLY_FRAME" val="{&quot;height&quot;:691.35,&quot;left&quot;:60,&quot;top&quot;:73.65,&quot;width&quot;:1336.45}"/>
</p:tagLst>
</file>

<file path=ppt/tags/tag39.xml><?xml version="1.0" encoding="utf-8"?>
<p:tagLst xmlns:p="http://schemas.openxmlformats.org/presentationml/2006/main">
  <p:tag name="KSO_WM_DIAGRAM_VIRTUALLY_FRAME" val="{&quot;height&quot;:553.4250393700788,&quot;left&quot;:60,&quot;top&quot;:73.65,&quot;width&quot;:1290}"/>
</p:tagLst>
</file>

<file path=ppt/tags/tag40.xml><?xml version="1.0" encoding="utf-8"?>
<p:tagLst xmlns:p="http://schemas.openxmlformats.org/presentationml/2006/main">
  <p:tag name="KSO_WM_DIAGRAM_VIRTUALLY_FRAME" val="{&quot;height&quot;:691.35,&quot;left&quot;:60,&quot;top&quot;:73.65,&quot;width&quot;:1336.45}"/>
</p:tagLst>
</file>

<file path=ppt/tags/tag41.xml><?xml version="1.0" encoding="utf-8"?>
<p:tagLst xmlns:p="http://schemas.openxmlformats.org/presentationml/2006/main">
  <p:tag name="KSO_WM_DIAGRAM_VIRTUALLY_FRAME" val="{&quot;height&quot;:691.35,&quot;left&quot;:60,&quot;top&quot;:73.65,&quot;width&quot;:1336.45}"/>
</p:tagLst>
</file>

<file path=ppt/tags/tag42.xml><?xml version="1.0" encoding="utf-8"?>
<p:tagLst xmlns:p="http://schemas.openxmlformats.org/presentationml/2006/main">
  <p:tag name="KSO_WM_DIAGRAM_VIRTUALLY_FRAME" val="{&quot;height&quot;:553.4250393700788,&quot;left&quot;:60,&quot;top&quot;:73.65,&quot;width&quot;:1290}"/>
</p:tagLst>
</file>

<file path=ppt/tags/tag43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44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45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46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47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48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49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0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1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2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3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4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5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6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7.xml><?xml version="1.0" encoding="utf-8"?>
<p:tagLst xmlns:p="http://schemas.openxmlformats.org/presentationml/2006/main">
  <p:tag name="KSO_WM_DIAGRAM_VIRTUALLY_FRAME" val="{&quot;height&quot;:465.175,&quot;left&quot;:91.25,&quot;top&quot;:207.875,&quot;width&quot;:1260.017559055118}"/>
</p:tagLst>
</file>

<file path=ppt/tags/tag58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59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60.xml><?xml version="1.0" encoding="utf-8"?>
<p:tagLst xmlns:p="http://schemas.openxmlformats.org/presentationml/2006/main">
  <p:tag name="TABLE_ENDDRAG_ORIGIN_RECT" val="1250*466"/>
  <p:tag name="TABLE_ENDDRAG_RECT" val="120*213*1250*467"/>
</p:tagLst>
</file>

<file path=ppt/tags/tag61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62.xml><?xml version="1.0" encoding="utf-8"?>
<p:tagLst xmlns:p="http://schemas.openxmlformats.org/presentationml/2006/main">
  <p:tag name="KSO_WM_DIAGRAM_VIRTUALLY_FRAME" val="{&quot;height&quot;:225,&quot;left&quot;:60,&quot;top&quot;:188.25,&quot;width&quot;:839.9999212598425}"/>
</p:tagLst>
</file>

<file path=ppt/tags/tag63.xml><?xml version="1.0" encoding="utf-8"?>
<p:tagLst xmlns:p="http://schemas.openxmlformats.org/presentationml/2006/main">
  <p:tag name="KSO_WM_DIAGRAM_VIRTUALLY_FRAME" val="{&quot;height&quot;:578.3999999999999,&quot;left&quot;:60,&quot;top&quot;:150,&quot;width&quot;:1352.2}"/>
</p:tagLst>
</file>

<file path=ppt/tags/tag64.xml><?xml version="1.0" encoding="utf-8"?>
<p:tagLst xmlns:p="http://schemas.openxmlformats.org/presentationml/2006/main">
  <p:tag name="KSO_WM_DIAGRAM_VIRTUALLY_FRAME" val="{&quot;height&quot;:578.3999999999999,&quot;left&quot;:60,&quot;top&quot;:150,&quot;width&quot;:1352.2}"/>
</p:tagLst>
</file>

<file path=ppt/tags/tag65.xml><?xml version="1.0" encoding="utf-8"?>
<p:tagLst xmlns:p="http://schemas.openxmlformats.org/presentationml/2006/main">
  <p:tag name="KSO_WM_DIAGRAM_VIRTUALLY_FRAME" val="{&quot;height&quot;:225,&quot;left&quot;:60,&quot;top&quot;:188.25,&quot;width&quot;:839.9999212598425}"/>
</p:tagLst>
</file>

<file path=ppt/tags/tag66.xml><?xml version="1.0" encoding="utf-8"?>
<p:tagLst xmlns:p="http://schemas.openxmlformats.org/presentationml/2006/main">
  <p:tag name="KSO_WM_DIAGRAM_VIRTUALLY_FRAME" val="{&quot;height&quot;:578.3999999999999,&quot;left&quot;:60,&quot;top&quot;:150,&quot;width&quot;:1352.2}"/>
</p:tagLst>
</file>

<file path=ppt/tags/tag67.xml><?xml version="1.0" encoding="utf-8"?>
<p:tagLst xmlns:p="http://schemas.openxmlformats.org/presentationml/2006/main">
  <p:tag name="KSO_WM_DIAGRAM_VIRTUALLY_FRAME" val="{&quot;height&quot;:578.3999999999999,&quot;left&quot;:60,&quot;top&quot;:150,&quot;width&quot;:1352.2}"/>
</p:tagLst>
</file>

<file path=ppt/tags/tag68.xml><?xml version="1.0" encoding="utf-8"?>
<p:tagLst xmlns:p="http://schemas.openxmlformats.org/presentationml/2006/main">
  <p:tag name="KSO_WM_DIAGRAM_VIRTUALLY_FRAME" val="{&quot;height&quot;:225,&quot;left&quot;:60,&quot;top&quot;:188.25,&quot;width&quot;:839.9999212598425}"/>
</p:tagLst>
</file>

<file path=ppt/tags/tag69.xml><?xml version="1.0" encoding="utf-8"?>
<p:tagLst xmlns:p="http://schemas.openxmlformats.org/presentationml/2006/main">
  <p:tag name="KSO_WM_DIAGRAM_VIRTUALLY_FRAME" val="{&quot;height&quot;:578.3999999999999,&quot;left&quot;:60,&quot;top&quot;:150,&quot;width&quot;:1352.2}"/>
</p:tagLst>
</file>

<file path=ppt/tags/tag70.xml><?xml version="1.0" encoding="utf-8"?>
<p:tagLst xmlns:p="http://schemas.openxmlformats.org/presentationml/2006/main">
  <p:tag name="KSO_WM_DIAGRAM_VIRTUALLY_FRAME" val="{&quot;height&quot;:578.3999999999999,&quot;left&quot;:60,&quot;top&quot;:150,&quot;width&quot;:1352.2}"/>
</p:tagLst>
</file>

<file path=ppt/tags/tag71.xml><?xml version="1.0" encoding="utf-8"?>
<p:tagLst xmlns:p="http://schemas.openxmlformats.org/presentationml/2006/main">
  <p:tag name="KSO_WM_DIAGRAM_VIRTUALLY_FRAME" val="{&quot;height&quot;:225,&quot;left&quot;:60,&quot;top&quot;:188.25,&quot;width&quot;:839.9999212598425}"/>
</p:tagLst>
</file>

<file path=ppt/tags/tag72.xml><?xml version="1.0" encoding="utf-8"?>
<p:tagLst xmlns:p="http://schemas.openxmlformats.org/presentationml/2006/main">
  <p:tag name="KSO_WM_DIAGRAM_VIRTUALLY_FRAME" val="{&quot;height&quot;:578.3999999999999,&quot;left&quot;:60,&quot;top&quot;:150,&quot;width&quot;:1352.2}"/>
</p:tagLst>
</file>

<file path=ppt/tags/tag73.xml><?xml version="1.0" encoding="utf-8"?>
<p:tagLst xmlns:p="http://schemas.openxmlformats.org/presentationml/2006/main">
  <p:tag name="KSO_WM_DIAGRAM_VIRTUALLY_FRAME" val="{&quot;height&quot;:578.3999999999999,&quot;left&quot;:60,&quot;top&quot;:150,&quot;width&quot;:1352.2}"/>
</p:tagLst>
</file>

<file path=ppt/tags/tag74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75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76.xml><?xml version="1.0" encoding="utf-8"?>
<p:tagLst xmlns:p="http://schemas.openxmlformats.org/presentationml/2006/main">
  <p:tag name="KSO_WM_DIAGRAM_VIRTUALLY_FRAME" val="{&quot;height&quot;:456.75,&quot;left&quot;:60,&quot;top&quot;:168.75,&quot;width&quot;:1290}"/>
</p:tagLst>
</file>

<file path=ppt/tags/tag77.xml><?xml version="1.0" encoding="utf-8"?>
<p:tagLst xmlns:p="http://schemas.openxmlformats.org/presentationml/2006/main">
  <p:tag name="KSO_WM_DIAGRAM_VIRTUALLY_FRAME" val="{&quot;height&quot;:456.75,&quot;left&quot;:60,&quot;top&quot;:168.75,&quot;width&quot;:1290}"/>
</p:tagLst>
</file>

<file path=ppt/tags/tag78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79.xml><?xml version="1.0" encoding="utf-8"?>
<p:tagLst xmlns:p="http://schemas.openxmlformats.org/presentationml/2006/main">
  <p:tag name="KSO_WM_DIAGRAM_VIRTUALLY_FRAME" val="{&quot;height&quot;:456.75,&quot;left&quot;:60,&quot;top&quot;:168.75,&quot;width&quot;:1290}"/>
</p:tagLst>
</file>

<file path=ppt/tags/tag80.xml><?xml version="1.0" encoding="utf-8"?>
<p:tagLst xmlns:p="http://schemas.openxmlformats.org/presentationml/2006/main">
  <p:tag name="KSO_WM_DIAGRAM_VIRTUALLY_FRAME" val="{&quot;height&quot;:456.75,&quot;left&quot;:60,&quot;top&quot;:168.75,&quot;width&quot;:1290}"/>
</p:tagLst>
</file>

<file path=ppt/tags/tag81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82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83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84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85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86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87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88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89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0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1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2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3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4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5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6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7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8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99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100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101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102.xml><?xml version="1.0" encoding="utf-8"?>
<p:tagLst xmlns:p="http://schemas.openxmlformats.org/presentationml/2006/main">
  <p:tag name="KSO_WM_DIAGRAM_VIRTUALLY_FRAME" val="{&quot;height&quot;:510.6,&quot;left&quot;:60,&quot;top&quot;:168.75,&quot;width&quot;:1313.1829170024175}"/>
</p:tagLst>
</file>

<file path=ppt/tags/tag103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ags/tag104.xml><?xml version="1.0" encoding="utf-8"?>
<p:tagLst xmlns:p="http://schemas.openxmlformats.org/presentationml/2006/main">
  <p:tag name="KSO_WM_DIAGRAM_VIRTUALLY_FRAME" val="{&quot;height&quot;:602.9,&quot;left&quot;:538.15,&quot;top&quot;:97.15,&quot;width&quot;:826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4587</Words>
  <Application>WPS Presentation</Application>
  <PresentationFormat>Custom</PresentationFormat>
  <Paragraphs>291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SimSun</vt:lpstr>
      <vt:lpstr>Wingdings</vt:lpstr>
      <vt:lpstr>Open Sans Bold</vt:lpstr>
      <vt:lpstr>Open Sans</vt:lpstr>
      <vt:lpstr>Open Sans Italics</vt:lpstr>
      <vt:lpstr>Montserrat</vt:lpstr>
      <vt:lpstr>Times New Roman</vt:lpstr>
      <vt:lpstr>Plus Jakarta Sans</vt:lpstr>
      <vt:lpstr>Segoe Print</vt:lpstr>
      <vt:lpstr>Inter</vt:lpstr>
      <vt:lpstr>Plus Jakarta Sans ExtraBold</vt:lpstr>
      <vt:lpstr>Calibri</vt:lpstr>
      <vt:lpstr>Poppins</vt:lpstr>
      <vt:lpstr>Lato</vt:lpstr>
      <vt:lpstr>Roboto Bold</vt:lpstr>
      <vt:lpstr>Montserrat Medium</vt:lpstr>
      <vt:lpstr>Microsoft YaHei</vt:lpstr>
      <vt:lpstr>Arial Unicode MS</vt:lpstr>
      <vt:lpstr>Corbel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luận - thương</dc:title>
  <dc:creator>ASUS</dc:creator>
  <cp:lastModifiedBy>Bắc Vũ Xuân</cp:lastModifiedBy>
  <cp:revision>61</cp:revision>
  <dcterms:created xsi:type="dcterms:W3CDTF">2006-08-16T00:00:00Z</dcterms:created>
  <dcterms:modified xsi:type="dcterms:W3CDTF">2026-06-15T02:32:36Z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30C10D7DBFDC49B4AECDF4A8B8BE05E3_12</vt:lpwstr>
  </property>
  <property fmtid="{D5CDD505-2E9C-101B-9397-08002B2CF9AE}" pid="3" name="KSOProductBuildVer">
    <vt:lpwstr>1033-12.2.0.22549</vt:lpwstr>
  </property>
</Properties>
</file>